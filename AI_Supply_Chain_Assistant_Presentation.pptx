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73152" cy="67482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772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</a:rPr>
              <a:t>AI-Powered Supply Chain
Intelligence Assistant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56616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90E0EF"/>
                </a:solidFill>
              </a:rPr>
              <a:t>Capstone Project — Architecture &amp; Node Deep-Dive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8"/>
                </a:solidFill>
              </a:rPr>
              <a:t>Built on  LangGraph  ·  FastAPI  ·  ChromaDB  ·  SQLite  ·  React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120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8"/>
                </a:solidFill>
              </a:rPr>
              <a:t>Presenter: Anuvarshini S S  |  FDE Capstone  | 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9601200" y="2286000"/>
            <a:ext cx="2103120" cy="685800"/>
          </a:xfrm>
          <a:prstGeom prst="rect">
            <a:avLst/>
          </a:prstGeom>
          <a:solidFill>
            <a:srgbClr val="EF474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0" y="2286000"/>
            <a:ext cx="2103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Supplier Risk</a:t>
            </a:r>
          </a:p>
        </p:txBody>
      </p:sp>
      <p:sp>
        <p:nvSpPr>
          <p:cNvPr id="10" name="Rectangle 9"/>
          <p:cNvSpPr/>
          <p:nvPr/>
        </p:nvSpPr>
        <p:spPr>
          <a:xfrm>
            <a:off x="9601200" y="3291840"/>
            <a:ext cx="2103120" cy="685800"/>
          </a:xfrm>
          <a:prstGeom prst="rect">
            <a:avLst/>
          </a:prstGeom>
          <a:solidFill>
            <a:srgbClr val="F7B73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0" y="3291840"/>
            <a:ext cx="2103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Shipment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601200" y="4297680"/>
            <a:ext cx="2103120" cy="685800"/>
          </a:xfrm>
          <a:prstGeom prst="rect">
            <a:avLst/>
          </a:prstGeom>
          <a:solidFill>
            <a:srgbClr val="2DC65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0" y="4297680"/>
            <a:ext cx="2103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Inventory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B4D8"/>
                </a:solidFill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118872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Project Overview &amp; Problem Statement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B4D8"/>
                </a:solidFill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19456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System Architecture — End-to-End 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00400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B4D8"/>
                </a:solidFill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20040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Node Deep-Dive: Input Guardrail &amp; General Check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206240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B4D8"/>
                </a:solidFill>
              </a:rP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420624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Node Deep-Dive: NL-to-SQL 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212080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B4D8"/>
                </a:solidFill>
              </a:rPr>
              <a:t>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521208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Node Deep-Dive: Specialist Classifier &amp; Retrieval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1188720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B4D8"/>
                </a:solidFill>
              </a:rPr>
              <a:t>06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69480" y="118872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Node Deep-Dive: Orchestrator &amp; Specialist Agents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2194560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B4D8"/>
                </a:solidFill>
              </a:rPr>
              <a:t>07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69480" y="21945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Node Deep-Dive: Summary &amp; Recommendation Engine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3200400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B4D8"/>
                </a:solidFill>
              </a:rPr>
              <a:t>08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69480" y="32004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Technology Stack &amp; Data Model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4206240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B4D8"/>
                </a:solidFill>
              </a:rPr>
              <a:t>09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69480" y="420624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Key Metrics &amp; Business Value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5212080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B4D8"/>
                </a:solidFill>
              </a:rPr>
              <a:t>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69480" y="52120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Live Demo Walk-Through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Project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05840"/>
            <a:ext cx="5303520" cy="2468880"/>
          </a:xfrm>
          <a:prstGeom prst="rect">
            <a:avLst/>
          </a:prstGeom>
          <a:solidFill>
            <a:srgbClr val="16283A"/>
          </a:solidFill>
          <a:ln w="19050">
            <a:solidFill>
              <a:srgbClr val="EF47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F474A"/>
                </a:solidFill>
              </a:rP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8"/>
                </a:solidFill>
              </a:rPr>
              <a:t>• Supply chain data is siloed across SQL databases, documents &amp; logs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75104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8"/>
                </a:solidFill>
              </a:rPr>
              <a:t>• Analysts need hours to correlate supplier risk ↔ inventory ↔ shipment delays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9572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8"/>
                </a:solidFill>
              </a:rPr>
              <a:t>• No single view for proactive risk detection &amp; recommendations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81635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8"/>
                </a:solidFill>
              </a:rPr>
              <a:t>• Business users can't query raw data without SQL knowledge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1005840"/>
            <a:ext cx="5669280" cy="2468880"/>
          </a:xfrm>
          <a:prstGeom prst="rect">
            <a:avLst/>
          </a:prstGeom>
          <a:solidFill>
            <a:srgbClr val="16283A"/>
          </a:solidFill>
          <a:ln w="19050">
            <a:solidFill>
              <a:srgbClr val="2DC6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09728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DC65C"/>
                </a:solidFill>
              </a:rPr>
              <a:t>Our Solution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155448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8"/>
                </a:solidFill>
              </a:rPr>
              <a:t>• Natural language interface — no SQL needed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1975104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8"/>
                </a:solidFill>
              </a:rPr>
              <a:t>• Multi-agent pipeline: SQL + vector search + specialist AI agents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395728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8"/>
                </a:solidFill>
              </a:rPr>
              <a:t>• Real-time anomaly correlation across supplier / shipment / inventory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2816352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8"/>
                </a:solidFill>
              </a:rPr>
              <a:t>• Automated risk detection + actionable recommendations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794760"/>
            <a:ext cx="2743200" cy="2560320"/>
          </a:xfrm>
          <a:prstGeom prst="rect">
            <a:avLst/>
          </a:prstGeom>
          <a:solidFill>
            <a:srgbClr val="1A2E44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3977639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B4D8"/>
                </a:solidFill>
              </a:rPr>
              <a:t>3 Databases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452628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C4D8"/>
                </a:solidFill>
              </a:rPr>
              <a:t>SQLite + ChromaDB
+ BM25 Index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91840" y="3794760"/>
            <a:ext cx="2743200" cy="2560320"/>
          </a:xfrm>
          <a:prstGeom prst="rect">
            <a:avLst/>
          </a:prstGeom>
          <a:solidFill>
            <a:srgbClr val="1A2E44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91840" y="3977639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B4D8"/>
                </a:solidFill>
              </a:rPr>
              <a:t>6 AI Agents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91840" y="452628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C4D8"/>
                </a:solidFill>
              </a:rPr>
              <a:t>Supplier · Shipment
Inventory · NL-SQL
Summary · Recommend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3794760"/>
            <a:ext cx="2743200" cy="2560320"/>
          </a:xfrm>
          <a:prstGeom prst="rect">
            <a:avLst/>
          </a:prstGeom>
          <a:solidFill>
            <a:srgbClr val="1A2E44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0" y="3977639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B4D8"/>
                </a:solidFill>
              </a:rPr>
              <a:t>9 Graph Nodes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452628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C4D8"/>
                </a:solidFill>
              </a:rPr>
              <a:t>Full LangGraph
state machine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44000" y="3794760"/>
            <a:ext cx="2743200" cy="2560320"/>
          </a:xfrm>
          <a:prstGeom prst="rect">
            <a:avLst/>
          </a:prstGeom>
          <a:solidFill>
            <a:srgbClr val="1A2E44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0" y="3977639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B4D8"/>
                </a:solidFill>
              </a:rPr>
              <a:t>Hybrid RAG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452628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C4D8"/>
                </a:solidFill>
              </a:rPr>
              <a:t>Vector + BM25
+ Reranker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System Architecture — End-to-End Query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" y="868680"/>
            <a:ext cx="11795760" cy="960120"/>
          </a:xfrm>
          <a:prstGeom prst="rect">
            <a:avLst/>
          </a:prstGeom>
          <a:solidFill>
            <a:srgbClr val="102235"/>
          </a:solidFill>
          <a:ln w="6350">
            <a:solidFill>
              <a:srgbClr val="90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86968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0E0EF"/>
                </a:solidFill>
              </a:rPr>
              <a:t>USER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" y="1920240"/>
            <a:ext cx="11795760" cy="2926080"/>
          </a:xfrm>
          <a:prstGeom prst="rect">
            <a:avLst/>
          </a:prstGeom>
          <a:solidFill>
            <a:srgbClr val="0F2030"/>
          </a:solidFill>
          <a:ln w="6350">
            <a:solidFill>
              <a:srgbClr val="90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1168" y="193852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0E0EF"/>
                </a:solidFill>
              </a:rPr>
              <a:t>LANGGRAPH PIPELINE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" y="4983480"/>
            <a:ext cx="11795760" cy="1691640"/>
          </a:xfrm>
          <a:prstGeom prst="rect">
            <a:avLst/>
          </a:prstGeom>
          <a:solidFill>
            <a:srgbClr val="0C1A28"/>
          </a:solidFill>
          <a:ln w="6350">
            <a:solidFill>
              <a:srgbClr val="90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1168" y="500176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0E0EF"/>
                </a:solidFill>
              </a:rPr>
              <a:t>DATA LAYER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960120"/>
            <a:ext cx="1371600" cy="685800"/>
          </a:xfrm>
          <a:prstGeom prst="rect">
            <a:avLst/>
          </a:prstGeom>
          <a:solidFill>
            <a:srgbClr val="1A2E44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960120"/>
            <a:ext cx="1371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React
Frontend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11680" y="960120"/>
            <a:ext cx="1371600" cy="685800"/>
          </a:xfrm>
          <a:prstGeom prst="rect">
            <a:avLst/>
          </a:prstGeom>
          <a:solidFill>
            <a:srgbClr val="1A2E44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11680" y="960120"/>
            <a:ext cx="1371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FastAPI
/query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737360" y="1298448"/>
            <a:ext cx="274320" cy="0"/>
          </a:xfrm>
          <a:prstGeom prst="line">
            <a:avLst/>
          </a:prstGeom>
          <a:ln w="25400">
            <a:solidFill>
              <a:srgbClr val="00B4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764792" y="88696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B0C4D8"/>
                </a:solidFill>
              </a:rPr>
              <a:t>POST /api/query  {query, filters, top_k}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92608" y="2240280"/>
            <a:ext cx="1325880" cy="804672"/>
          </a:xfrm>
          <a:prstGeom prst="rect">
            <a:avLst/>
          </a:prstGeom>
          <a:solidFill>
            <a:srgbClr val="16283A"/>
          </a:solidFill>
          <a:ln w="22860">
            <a:solidFill>
              <a:srgbClr val="F7B7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2608" y="2240280"/>
            <a:ext cx="13258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🛡️ Input
Guardrail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773936" y="2240280"/>
            <a:ext cx="1325880" cy="804672"/>
          </a:xfrm>
          <a:prstGeom prst="rect">
            <a:avLst/>
          </a:prstGeom>
          <a:solidFill>
            <a:srgbClr val="16283A"/>
          </a:solidFill>
          <a:ln w="2286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773936" y="2240280"/>
            <a:ext cx="13258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🔍 General
Check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55264" y="2240280"/>
            <a:ext cx="1325880" cy="804672"/>
          </a:xfrm>
          <a:prstGeom prst="rect">
            <a:avLst/>
          </a:prstGeom>
          <a:solidFill>
            <a:srgbClr val="16283A"/>
          </a:solidFill>
          <a:ln w="22860">
            <a:solidFill>
              <a:srgbClr val="2DC6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55264" y="2240280"/>
            <a:ext cx="13258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🗃️ NL→SQL
Agent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36592" y="2240280"/>
            <a:ext cx="1325880" cy="804672"/>
          </a:xfrm>
          <a:prstGeom prst="rect">
            <a:avLst/>
          </a:prstGeom>
          <a:solidFill>
            <a:srgbClr val="16283A"/>
          </a:solidFill>
          <a:ln w="2286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36592" y="2240280"/>
            <a:ext cx="13258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🎯 Specialist
Classify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2240280"/>
            <a:ext cx="1325880" cy="804672"/>
          </a:xfrm>
          <a:prstGeom prst="rect">
            <a:avLst/>
          </a:prstGeom>
          <a:solidFill>
            <a:srgbClr val="16283A"/>
          </a:solidFill>
          <a:ln w="2286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17920" y="2240280"/>
            <a:ext cx="13258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🗄️ Vector
Retrieval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699248" y="2240280"/>
            <a:ext cx="1325880" cy="804672"/>
          </a:xfrm>
          <a:prstGeom prst="rect">
            <a:avLst/>
          </a:prstGeom>
          <a:solidFill>
            <a:srgbClr val="16283A"/>
          </a:solidFill>
          <a:ln w="22860">
            <a:solidFill>
              <a:srgbClr val="AA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99248" y="2240280"/>
            <a:ext cx="13258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🎛️ Orchestrator
+ Agents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80576" y="2240280"/>
            <a:ext cx="1325880" cy="804672"/>
          </a:xfrm>
          <a:prstGeom prst="rect">
            <a:avLst/>
          </a:prstGeom>
          <a:solidFill>
            <a:srgbClr val="16283A"/>
          </a:solidFill>
          <a:ln w="2286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80576" y="2240280"/>
            <a:ext cx="13258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✦ Summary
Node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661904" y="2240280"/>
            <a:ext cx="1325880" cy="804672"/>
          </a:xfrm>
          <a:prstGeom prst="rect">
            <a:avLst/>
          </a:prstGeom>
          <a:solidFill>
            <a:srgbClr val="16283A"/>
          </a:solidFill>
          <a:ln w="22860">
            <a:solidFill>
              <a:srgbClr val="2DC6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661904" y="2240280"/>
            <a:ext cx="13258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💡 Recommend
Engine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618488" y="2642616.0"/>
            <a:ext cx="155448" cy="0.0"/>
          </a:xfrm>
          <a:prstGeom prst="line">
            <a:avLst/>
          </a:prstGeom>
          <a:ln w="19050">
            <a:solidFill>
              <a:srgbClr val="00B4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099816" y="2642616.0"/>
            <a:ext cx="155448" cy="0.0"/>
          </a:xfrm>
          <a:prstGeom prst="line">
            <a:avLst/>
          </a:prstGeom>
          <a:ln w="19050">
            <a:solidFill>
              <a:srgbClr val="00B4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4581144" y="2642616.0"/>
            <a:ext cx="155448" cy="0.0"/>
          </a:xfrm>
          <a:prstGeom prst="line">
            <a:avLst/>
          </a:prstGeom>
          <a:ln w="19050">
            <a:solidFill>
              <a:srgbClr val="00B4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6062472" y="2642616.0"/>
            <a:ext cx="155448" cy="0.0"/>
          </a:xfrm>
          <a:prstGeom prst="line">
            <a:avLst/>
          </a:prstGeom>
          <a:ln w="19050">
            <a:solidFill>
              <a:srgbClr val="00B4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7543800" y="2642616.0"/>
            <a:ext cx="155448" cy="0.0"/>
          </a:xfrm>
          <a:prstGeom prst="line">
            <a:avLst/>
          </a:prstGeom>
          <a:ln w="19050">
            <a:solidFill>
              <a:srgbClr val="00B4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9025128" y="2642616.0"/>
            <a:ext cx="155448" cy="0.0"/>
          </a:xfrm>
          <a:prstGeom prst="line">
            <a:avLst/>
          </a:prstGeom>
          <a:ln w="19050">
            <a:solidFill>
              <a:srgbClr val="00B4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10506456" y="2642616.0"/>
            <a:ext cx="155448" cy="0.0"/>
          </a:xfrm>
          <a:prstGeom prst="line">
            <a:avLst/>
          </a:prstGeom>
          <a:ln w="19050">
            <a:solidFill>
              <a:srgbClr val="00B4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502920" y="3154680"/>
            <a:ext cx="1005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EF474A"/>
                </a:solidFill>
              </a:rPr>
              <a:t>invalid →
END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960120" y="3044952"/>
            <a:ext cx="0" cy="429768"/>
          </a:xfrm>
          <a:prstGeom prst="line">
            <a:avLst/>
          </a:prstGeom>
          <a:ln w="12700">
            <a:solidFill>
              <a:srgbClr val="EF47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1874519" y="31546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F7B731"/>
                </a:solidFill>
              </a:rPr>
              <a:t>off-topic →
General QA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394960" y="31546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F7B731"/>
                </a:solidFill>
              </a:rPr>
              <a:t>no agents →
skip to →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629400" y="3383280"/>
            <a:ext cx="1508760" cy="685800"/>
          </a:xfrm>
          <a:prstGeom prst="rect">
            <a:avLst/>
          </a:prstGeom>
          <a:solidFill>
            <a:srgbClr val="1A2E44"/>
          </a:solidFill>
          <a:ln w="25400">
            <a:solidFill>
              <a:srgbClr val="EF47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629400" y="3383280"/>
            <a:ext cx="1508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🏭 Supplier
Risk Agent</a:t>
            </a:r>
          </a:p>
        </p:txBody>
      </p:sp>
      <p:cxnSp>
        <p:nvCxnSpPr>
          <p:cNvPr id="45" name="Connector 44"/>
          <p:cNvCxnSpPr/>
          <p:nvPr/>
        </p:nvCxnSpPr>
        <p:spPr>
          <a:xfrm flipH="1">
            <a:off x="7383780.0" y="3044952"/>
            <a:ext cx="1714500.0" cy="338328"/>
          </a:xfrm>
          <a:prstGeom prst="line">
            <a:avLst/>
          </a:prstGeom>
          <a:ln w="15240">
            <a:solidFill>
              <a:srgbClr val="EF47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ectangle 45"/>
          <p:cNvSpPr/>
          <p:nvPr/>
        </p:nvSpPr>
        <p:spPr>
          <a:xfrm>
            <a:off x="8247888" y="3383280"/>
            <a:ext cx="1508760" cy="685800"/>
          </a:xfrm>
          <a:prstGeom prst="rect">
            <a:avLst/>
          </a:prstGeom>
          <a:solidFill>
            <a:srgbClr val="1A2E44"/>
          </a:solidFill>
          <a:ln w="25400">
            <a:solidFill>
              <a:srgbClr val="F7B7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47888" y="3383280"/>
            <a:ext cx="1508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🚢 Shipment
Agent</a:t>
            </a:r>
          </a:p>
        </p:txBody>
      </p:sp>
      <p:cxnSp>
        <p:nvCxnSpPr>
          <p:cNvPr id="48" name="Connector 47"/>
          <p:cNvCxnSpPr/>
          <p:nvPr/>
        </p:nvCxnSpPr>
        <p:spPr>
          <a:xfrm flipH="1">
            <a:off x="9002268.0" y="3044952"/>
            <a:ext cx="96012.0" cy="338328"/>
          </a:xfrm>
          <a:prstGeom prst="line">
            <a:avLst/>
          </a:prstGeom>
          <a:ln w="15240">
            <a:solidFill>
              <a:srgbClr val="F7B7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ectangle 48"/>
          <p:cNvSpPr/>
          <p:nvPr/>
        </p:nvSpPr>
        <p:spPr>
          <a:xfrm>
            <a:off x="9866376" y="3383280"/>
            <a:ext cx="1508760" cy="685800"/>
          </a:xfrm>
          <a:prstGeom prst="rect">
            <a:avLst/>
          </a:prstGeom>
          <a:solidFill>
            <a:srgbClr val="1A2E44"/>
          </a:solidFill>
          <a:ln w="25400">
            <a:solidFill>
              <a:srgbClr val="2DC6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866376" y="3383280"/>
            <a:ext cx="1508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📦 Inventory
Agent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9098280" y="3044952"/>
            <a:ext cx="1522476.0" cy="338328"/>
          </a:xfrm>
          <a:prstGeom prst="line">
            <a:avLst/>
          </a:prstGeom>
          <a:ln w="15240">
            <a:solidFill>
              <a:srgbClr val="2DC6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ectangle 51"/>
          <p:cNvSpPr/>
          <p:nvPr/>
        </p:nvSpPr>
        <p:spPr>
          <a:xfrm>
            <a:off x="457200" y="5166360"/>
            <a:ext cx="2286000" cy="822960"/>
          </a:xfrm>
          <a:prstGeom prst="rect">
            <a:avLst/>
          </a:prstGeom>
          <a:solidFill>
            <a:srgbClr val="16283A"/>
          </a:solidFill>
          <a:ln w="19050">
            <a:solidFill>
              <a:srgbClr val="2DC6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57200" y="516636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SQLite DB
(Structured)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1600200" y="4983480"/>
            <a:ext cx="0" cy="182880"/>
          </a:xfrm>
          <a:prstGeom prst="line">
            <a:avLst/>
          </a:prstGeom>
          <a:ln w="12700">
            <a:solidFill>
              <a:srgbClr val="2DC6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ectangle 54"/>
          <p:cNvSpPr/>
          <p:nvPr/>
        </p:nvSpPr>
        <p:spPr>
          <a:xfrm>
            <a:off x="3108960" y="5166360"/>
            <a:ext cx="2286000" cy="822960"/>
          </a:xfrm>
          <a:prstGeom prst="rect">
            <a:avLst/>
          </a:prstGeom>
          <a:solidFill>
            <a:srgbClr val="16283A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108960" y="516636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ChromaDB
(Vector Store)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4251960" y="4983480"/>
            <a:ext cx="0" cy="182880"/>
          </a:xfrm>
          <a:prstGeom prst="line">
            <a:avLst/>
          </a:prstGeom>
          <a:ln w="12700">
            <a:solidFill>
              <a:srgbClr val="00B4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Rectangle 57"/>
          <p:cNvSpPr/>
          <p:nvPr/>
        </p:nvSpPr>
        <p:spPr>
          <a:xfrm>
            <a:off x="5760720" y="5166360"/>
            <a:ext cx="2286000" cy="822960"/>
          </a:xfrm>
          <a:prstGeom prst="rect">
            <a:avLst/>
          </a:prstGeom>
          <a:solidFill>
            <a:srgbClr val="16283A"/>
          </a:solidFill>
          <a:ln w="19050">
            <a:solidFill>
              <a:srgbClr val="90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760720" y="516636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BM25 Index
(Keyword)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6903720" y="4983480"/>
            <a:ext cx="0" cy="182880"/>
          </a:xfrm>
          <a:prstGeom prst="line">
            <a:avLst/>
          </a:prstGeom>
          <a:ln w="12700">
            <a:solidFill>
              <a:srgbClr val="90E0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Rectangle 60"/>
          <p:cNvSpPr/>
          <p:nvPr/>
        </p:nvSpPr>
        <p:spPr>
          <a:xfrm>
            <a:off x="8412480" y="5166360"/>
            <a:ext cx="2286000" cy="822960"/>
          </a:xfrm>
          <a:prstGeom prst="rect">
            <a:avLst/>
          </a:prstGeom>
          <a:solidFill>
            <a:srgbClr val="16283A"/>
          </a:solidFill>
          <a:ln w="19050">
            <a:solidFill>
              <a:srgbClr val="F7B7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412480" y="516636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LLM Gateway
(OpenAI)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9555480" y="4983480"/>
            <a:ext cx="0" cy="182880"/>
          </a:xfrm>
          <a:prstGeom prst="line">
            <a:avLst/>
          </a:prstGeom>
          <a:ln w="12700">
            <a:solidFill>
              <a:srgbClr val="F7B7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F7B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"/>
            <a:ext cx="12188952" cy="96012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🛡️  Input Guardrail Node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90E0EF"/>
                </a:solidFill>
              </a:rPr>
              <a:t>First gate — validates every query before any AI or database work begins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234440"/>
            <a:ext cx="11612880" cy="658368"/>
          </a:xfrm>
          <a:prstGeom prst="rect">
            <a:avLst/>
          </a:prstGeom>
          <a:solidFill>
            <a:srgbClr val="16283A"/>
          </a:solidFill>
          <a:ln w="15240">
            <a:solidFill>
              <a:srgbClr val="F7B7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Calls validate_query() from guardrails/input_validator.py. Checks: query length (min/max), PII patterns (emails, phone numbers, SSNs), and disallowed content. If validation fails, sets answer = error message and short-circuits the entire graph.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057400"/>
            <a:ext cx="3749039" cy="347472"/>
          </a:xfrm>
          <a:prstGeom prst="rect">
            <a:avLst/>
          </a:prstGeom>
          <a:solidFill>
            <a:srgbClr val="16283A"/>
          </a:solidFill>
          <a:ln w="19050">
            <a:solidFill>
              <a:srgbClr val="90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2103120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90E0EF"/>
                </a:solidFill>
              </a:rPr>
              <a:t>INPUTS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2468880"/>
            <a:ext cx="3657599" cy="347472"/>
          </a:xfrm>
          <a:prstGeom prst="rect">
            <a:avLst/>
          </a:prstGeom>
          <a:solidFill>
            <a:srgbClr val="12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2468880"/>
            <a:ext cx="35661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4D8"/>
                </a:solidFill>
              </a:rPr>
              <a:t>  query (str) — raw user input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852928"/>
            <a:ext cx="3657599" cy="347472"/>
          </a:xfrm>
          <a:prstGeom prst="rect">
            <a:avLst/>
          </a:prstGeom>
          <a:solidFill>
            <a:srgbClr val="12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2852928"/>
            <a:ext cx="35661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4D8"/>
                </a:solidFill>
              </a:rPr>
              <a:t>  execution_log (list) — accumulated log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06240" y="2057400"/>
            <a:ext cx="3749039" cy="347472"/>
          </a:xfrm>
          <a:prstGeom prst="rect">
            <a:avLst/>
          </a:prstGeom>
          <a:solidFill>
            <a:srgbClr val="16283A"/>
          </a:solidFill>
          <a:ln w="19050">
            <a:solidFill>
              <a:srgbClr val="F7B7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06240" y="2103120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7B731"/>
                </a:solidFill>
              </a:rPr>
              <a:t>CALLS / INVOKES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51960" y="2468880"/>
            <a:ext cx="3657599" cy="347472"/>
          </a:xfrm>
          <a:prstGeom prst="rect">
            <a:avLst/>
          </a:prstGeom>
          <a:solidFill>
            <a:srgbClr val="12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97680" y="2468880"/>
            <a:ext cx="35661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4D8"/>
                </a:solidFill>
              </a:rPr>
              <a:t>  validate_query(query) → raises ValidationError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51960" y="2852928"/>
            <a:ext cx="3657599" cy="347472"/>
          </a:xfrm>
          <a:prstGeom prst="rect">
            <a:avLst/>
          </a:prstGeom>
          <a:solidFill>
            <a:srgbClr val="12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97680" y="2852928"/>
            <a:ext cx="35661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4D8"/>
                </a:solidFill>
              </a:rPr>
              <a:t>  route_after_guardrail() → 'end' | 'general_check_node'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38160" y="2057400"/>
            <a:ext cx="3749039" cy="347472"/>
          </a:xfrm>
          <a:prstGeom prst="rect">
            <a:avLst/>
          </a:prstGeom>
          <a:solidFill>
            <a:srgbClr val="16283A"/>
          </a:solidFill>
          <a:ln w="19050">
            <a:solidFill>
              <a:srgbClr val="2DC6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38160" y="2103120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DC65C"/>
                </a:solidFill>
              </a:rPr>
              <a:t>OUTPUTS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83880" y="2468880"/>
            <a:ext cx="3657599" cy="347472"/>
          </a:xfrm>
          <a:prstGeom prst="rect">
            <a:avLst/>
          </a:prstGeom>
          <a:solidFill>
            <a:srgbClr val="12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0" y="2468880"/>
            <a:ext cx="35661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4D8"/>
                </a:solidFill>
              </a:rPr>
              <a:t>  validation_passed: True | False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83880" y="2852928"/>
            <a:ext cx="3657599" cy="347472"/>
          </a:xfrm>
          <a:prstGeom prst="rect">
            <a:avLst/>
          </a:prstGeom>
          <a:solidFill>
            <a:srgbClr val="12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0" y="2852928"/>
            <a:ext cx="35661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4D8"/>
                </a:solidFill>
              </a:rPr>
              <a:t>  answer (str) — error message if rejected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83880" y="3236976"/>
            <a:ext cx="3657599" cy="347472"/>
          </a:xfrm>
          <a:prstGeom prst="rect">
            <a:avLst/>
          </a:prstGeom>
          <a:solidFill>
            <a:srgbClr val="12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0" y="3236976"/>
            <a:ext cx="35661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4D8"/>
                </a:solidFill>
              </a:rPr>
              <a:t>  execution_log — updated with guardrail result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5029200"/>
            <a:ext cx="11612880" cy="1554480"/>
          </a:xfrm>
          <a:prstGeom prst="rect">
            <a:avLst/>
          </a:prstGeom>
          <a:solidFill>
            <a:srgbClr val="16283A"/>
          </a:solidFill>
          <a:ln w="12700">
            <a:solidFill>
              <a:srgbClr val="F7B7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480" y="50749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7B731"/>
                </a:solidFill>
              </a:rPr>
              <a:t>Decision Logic / Notes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5413248"/>
            <a:ext cx="11155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8"/>
                </a:solidFill>
              </a:rPr>
              <a:t>• If validation_passed = False → graph routes to END immediately; no LLM or DB call is made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760720"/>
            <a:ext cx="11155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8"/>
                </a:solidFill>
              </a:rPr>
              <a:t>• Execution log always gets an entry regardless of pass/fail — full observability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108192"/>
            <a:ext cx="11155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8"/>
                </a:solidFill>
              </a:rPr>
              <a:t>• PII blocking prevents sensitive data from reaching external LLM gateway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F7B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"/>
            <a:ext cx="12188952" cy="96012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🔍  General Check Node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90E0EF"/>
                </a:solidFill>
              </a:rPr>
              <a:t>Binary router — supply chain topic or off-topic? Decides the pipeline path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234440"/>
            <a:ext cx="11612880" cy="658368"/>
          </a:xfrm>
          <a:prstGeom prst="rect">
            <a:avLst/>
          </a:prstGeom>
          <a:solidFill>
            <a:srgbClr val="16283A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Calls the LLM with a strict system prompt to return {"is_supply_chain": true/false}. Has a keyword safety net (_SC_KEYWORDS set with 30+ supply chain terms) that overrides an LLM 'false' if any keyword matches — prevents false negatives on legitimate queries.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057400"/>
            <a:ext cx="3749039" cy="347472"/>
          </a:xfrm>
          <a:prstGeom prst="rect">
            <a:avLst/>
          </a:prstGeom>
          <a:solidFill>
            <a:srgbClr val="16283A"/>
          </a:solidFill>
          <a:ln w="19050">
            <a:solidFill>
              <a:srgbClr val="90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2103120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90E0EF"/>
                </a:solidFill>
              </a:rPr>
              <a:t>INPUTS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2468880"/>
            <a:ext cx="3657599" cy="347472"/>
          </a:xfrm>
          <a:prstGeom prst="rect">
            <a:avLst/>
          </a:prstGeom>
          <a:solidFill>
            <a:srgbClr val="12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2468880"/>
            <a:ext cx="35661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4D8"/>
                </a:solidFill>
              </a:rPr>
              <a:t>  query (str)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852928"/>
            <a:ext cx="3657599" cy="347472"/>
          </a:xfrm>
          <a:prstGeom prst="rect">
            <a:avLst/>
          </a:prstGeom>
          <a:solidFill>
            <a:srgbClr val="12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2852928"/>
            <a:ext cx="35661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4D8"/>
                </a:solidFill>
              </a:rPr>
              <a:t>  execution_log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06240" y="2057400"/>
            <a:ext cx="3749039" cy="347472"/>
          </a:xfrm>
          <a:prstGeom prst="rect">
            <a:avLst/>
          </a:prstGeom>
          <a:solidFill>
            <a:srgbClr val="16283A"/>
          </a:solidFill>
          <a:ln w="19050">
            <a:solidFill>
              <a:srgbClr val="F7B7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06240" y="2103120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7B731"/>
                </a:solidFill>
              </a:rPr>
              <a:t>CALLS / INVOKES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51960" y="2468880"/>
            <a:ext cx="3657599" cy="347472"/>
          </a:xfrm>
          <a:prstGeom prst="rect">
            <a:avLst/>
          </a:prstGeom>
          <a:solidFill>
            <a:srgbClr val="12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97680" y="2468880"/>
            <a:ext cx="35661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4D8"/>
                </a:solidFill>
              </a:rPr>
              <a:t>  chat([system, user]) → LLM classification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51960" y="2852928"/>
            <a:ext cx="3657599" cy="347472"/>
          </a:xfrm>
          <a:prstGeom prst="rect">
            <a:avLst/>
          </a:prstGeom>
          <a:solidFill>
            <a:srgbClr val="12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97680" y="2852928"/>
            <a:ext cx="35661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4D8"/>
                </a:solidFill>
              </a:rPr>
              <a:t>  json.loads() → parse {is_supply_chain: bool}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51960" y="3236976"/>
            <a:ext cx="3657599" cy="347472"/>
          </a:xfrm>
          <a:prstGeom prst="rect">
            <a:avLst/>
          </a:prstGeom>
          <a:solidFill>
            <a:srgbClr val="12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97680" y="3236976"/>
            <a:ext cx="35661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4D8"/>
                </a:solidFill>
              </a:rPr>
              <a:t>  keyword override: any(kw in query for kw in _SC_KEYWORDS)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51960" y="3621024"/>
            <a:ext cx="3657599" cy="347472"/>
          </a:xfrm>
          <a:prstGeom prst="rect">
            <a:avLst/>
          </a:prstGeom>
          <a:solidFill>
            <a:srgbClr val="12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97680" y="3621024"/>
            <a:ext cx="35661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4D8"/>
                </a:solidFill>
              </a:rPr>
              <a:t>  route_after_general_check() → 'general_node' | 'nlsql_node'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38160" y="2057400"/>
            <a:ext cx="3749039" cy="347472"/>
          </a:xfrm>
          <a:prstGeom prst="rect">
            <a:avLst/>
          </a:prstGeom>
          <a:solidFill>
            <a:srgbClr val="16283A"/>
          </a:solidFill>
          <a:ln w="19050">
            <a:solidFill>
              <a:srgbClr val="2DC6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38160" y="2103120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DC65C"/>
                </a:solidFill>
              </a:rPr>
              <a:t>OUTPUTS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83880" y="2468880"/>
            <a:ext cx="3657599" cy="347472"/>
          </a:xfrm>
          <a:prstGeom prst="rect">
            <a:avLst/>
          </a:prstGeom>
          <a:solidFill>
            <a:srgbClr val="12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0" y="2468880"/>
            <a:ext cx="35661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4D8"/>
                </a:solidFill>
              </a:rPr>
              <a:t>  routed_agents: ['supply_chain'] | ['general']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83880" y="2852928"/>
            <a:ext cx="3657599" cy="347472"/>
          </a:xfrm>
          <a:prstGeom prst="rect">
            <a:avLst/>
          </a:prstGeom>
          <a:solidFill>
            <a:srgbClr val="12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0" y="2852928"/>
            <a:ext cx="35661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4D8"/>
                </a:solidFill>
              </a:rPr>
              <a:t>  execution_log — updated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5029200"/>
            <a:ext cx="11612880" cy="1554480"/>
          </a:xfrm>
          <a:prstGeom prst="rect">
            <a:avLst/>
          </a:prstGeom>
          <a:solidFill>
            <a:srgbClr val="16283A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" y="50749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Decision Logic / Notes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5413248"/>
            <a:ext cx="11155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8"/>
                </a:solidFill>
              </a:rPr>
              <a:t>• Supply chain path → nlsql_node (structured data query always runs first)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5760720"/>
            <a:ext cx="11155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8"/>
                </a:solidFill>
              </a:rPr>
              <a:t>• Off-topic path → general_node → BaseAgent.answer_general() → END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6108192"/>
            <a:ext cx="11155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8"/>
                </a:solidFill>
              </a:rPr>
              <a:t>• Keyword safety net ensures supply chain queries with unusual phrasing are not lost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455664"/>
            <a:ext cx="11155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8"/>
                </a:solidFill>
              </a:rPr>
              <a:t>• Defaults is_supply_chain = True on any JSON parse error (fail-safe)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2DC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"/>
            <a:ext cx="12188952" cy="96012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🗃️  NL-to-SQL Agent Node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90E0EF"/>
                </a:solidFill>
              </a:rPr>
              <a:t>Converts natural language query to SQL, executes against SQLite, extracts entities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234440"/>
            <a:ext cx="11612880" cy="658368"/>
          </a:xfrm>
          <a:prstGeom prst="rect">
            <a:avLst/>
          </a:prstGeom>
          <a:solidFill>
            <a:srgbClr val="16283A"/>
          </a:solidFill>
          <a:ln w="15240">
            <a:solidFill>
              <a:srgbClr val="2DC6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NLSQLAgent runs a chat loop (up to 5 iterations): ask LLM for SQL → extract SQL block → execute against SQLite → feed result back to LLM → repeat until no more SQL blocks. Extracts named entities (supplier_names, warehouse_names, product_names) from results to enable targeted ChromaDB retrieval in subsequent nodes.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057400"/>
            <a:ext cx="3749039" cy="347472"/>
          </a:xfrm>
          <a:prstGeom prst="rect">
            <a:avLst/>
          </a:prstGeom>
          <a:solidFill>
            <a:srgbClr val="16283A"/>
          </a:solidFill>
          <a:ln w="19050">
            <a:solidFill>
              <a:srgbClr val="90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2103120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90E0EF"/>
                </a:solidFill>
              </a:rPr>
              <a:t>INPUTS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2468880"/>
            <a:ext cx="3657599" cy="347472"/>
          </a:xfrm>
          <a:prstGeom prst="rect">
            <a:avLst/>
          </a:prstGeom>
          <a:solidFill>
            <a:srgbClr val="12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2468880"/>
            <a:ext cx="35661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4D8"/>
                </a:solidFill>
              </a:rPr>
              <a:t>  query (str)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06240" y="2057400"/>
            <a:ext cx="3749039" cy="347472"/>
          </a:xfrm>
          <a:prstGeom prst="rect">
            <a:avLst/>
          </a:prstGeom>
          <a:solidFill>
            <a:srgbClr val="16283A"/>
          </a:solidFill>
          <a:ln w="19050">
            <a:solidFill>
              <a:srgbClr val="F7B7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06240" y="2103120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7B731"/>
                </a:solidFill>
              </a:rPr>
              <a:t>CALLS / INVOKES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51960" y="2468880"/>
            <a:ext cx="3657599" cy="347472"/>
          </a:xfrm>
          <a:prstGeom prst="rect">
            <a:avLst/>
          </a:prstGeom>
          <a:solidFill>
            <a:srgbClr val="12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97680" y="2468880"/>
            <a:ext cx="35661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4D8"/>
                </a:solidFill>
              </a:rPr>
              <a:t>  chat(messages) — up to 5 LLM calls in loop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51960" y="2852928"/>
            <a:ext cx="3657599" cy="347472"/>
          </a:xfrm>
          <a:prstGeom prst="rect">
            <a:avLst/>
          </a:prstGeom>
          <a:solidFill>
            <a:srgbClr val="12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97680" y="2852928"/>
            <a:ext cx="35661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4D8"/>
                </a:solidFill>
              </a:rPr>
              <a:t>  sqlite3.connect(SQLITE_DB_PATH) → pd.read_sql_query(sql)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51960" y="3236976"/>
            <a:ext cx="3657599" cy="347472"/>
          </a:xfrm>
          <a:prstGeom prst="rect">
            <a:avLst/>
          </a:prstGeom>
          <a:solidFill>
            <a:srgbClr val="12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97680" y="3236976"/>
            <a:ext cx="35661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4D8"/>
                </a:solidFill>
              </a:rPr>
              <a:t>  _extract_sql(response) → regex for ```sql blocks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51960" y="3621024"/>
            <a:ext cx="3657599" cy="347472"/>
          </a:xfrm>
          <a:prstGeom prst="rect">
            <a:avLst/>
          </a:prstGeom>
          <a:solidFill>
            <a:srgbClr val="12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97680" y="3621024"/>
            <a:ext cx="35661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4D8"/>
                </a:solidFill>
              </a:rPr>
              <a:t>  _extract_entities(dfs) → pull entity names from results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51960" y="4005072"/>
            <a:ext cx="3657599" cy="347472"/>
          </a:xfrm>
          <a:prstGeom prst="rect">
            <a:avLst/>
          </a:prstGeom>
          <a:solidFill>
            <a:srgbClr val="12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97680" y="4005072"/>
            <a:ext cx="35661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4D8"/>
                </a:solidFill>
              </a:rPr>
              <a:t>  _build_display_facts(dfs) → top 3 rows × 2 cols for UI cards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38160" y="2057400"/>
            <a:ext cx="3749039" cy="347472"/>
          </a:xfrm>
          <a:prstGeom prst="rect">
            <a:avLst/>
          </a:prstGeom>
          <a:solidFill>
            <a:srgbClr val="16283A"/>
          </a:solidFill>
          <a:ln w="19050">
            <a:solidFill>
              <a:srgbClr val="2DC6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38160" y="2103120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DC65C"/>
                </a:solidFill>
              </a:rPr>
              <a:t>OUTPUTS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83880" y="2468880"/>
            <a:ext cx="3657599" cy="347472"/>
          </a:xfrm>
          <a:prstGeom prst="rect">
            <a:avLst/>
          </a:prstGeom>
          <a:solidFill>
            <a:srgbClr val="12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0" y="2468880"/>
            <a:ext cx="35661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4D8"/>
                </a:solidFill>
              </a:rPr>
              <a:t>  sql_result — SQL queries used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83880" y="2852928"/>
            <a:ext cx="3657599" cy="347472"/>
          </a:xfrm>
          <a:prstGeom prst="rect">
            <a:avLst/>
          </a:prstGeom>
          <a:solidFill>
            <a:srgbClr val="12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0" y="2852928"/>
            <a:ext cx="35661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4D8"/>
                </a:solidFill>
              </a:rPr>
              <a:t>  sql_data — raw tabular output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183880" y="3236976"/>
            <a:ext cx="3657599" cy="347472"/>
          </a:xfrm>
          <a:prstGeom prst="rect">
            <a:avLst/>
          </a:prstGeom>
          <a:solidFill>
            <a:srgbClr val="12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0" y="3236976"/>
            <a:ext cx="35661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4D8"/>
                </a:solidFill>
              </a:rPr>
              <a:t>  answer — LLM-generated factual answer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83880" y="3621024"/>
            <a:ext cx="3657599" cy="347472"/>
          </a:xfrm>
          <a:prstGeom prst="rect">
            <a:avLst/>
          </a:prstGeom>
          <a:solidFill>
            <a:srgbClr val="12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0" y="3621024"/>
            <a:ext cx="35661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4D8"/>
                </a:solidFill>
              </a:rPr>
              <a:t>  sql_entities — {supplier_names, warehouse_names, product_names}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183880" y="4005072"/>
            <a:ext cx="3657599" cy="347472"/>
          </a:xfrm>
          <a:prstGeom prst="rect">
            <a:avLst/>
          </a:prstGeom>
          <a:solidFill>
            <a:srgbClr val="12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600" y="4005072"/>
            <a:ext cx="35661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4D8"/>
                </a:solidFill>
              </a:rPr>
              <a:t>  agent_findings['nlsql'] — summary, confidence, findings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183880" y="4389120"/>
            <a:ext cx="3657599" cy="347472"/>
          </a:xfrm>
          <a:prstGeom prst="rect">
            <a:avLst/>
          </a:prstGeom>
          <a:solidFill>
            <a:srgbClr val="12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29600" y="4389120"/>
            <a:ext cx="35661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4D8"/>
                </a:solidFill>
              </a:rPr>
              <a:t>  confidence_score — 0.9 (high, structured data)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" y="5029200"/>
            <a:ext cx="11612880" cy="1554480"/>
          </a:xfrm>
          <a:prstGeom prst="rect">
            <a:avLst/>
          </a:prstGeom>
          <a:solidFill>
            <a:srgbClr val="16283A"/>
          </a:solidFill>
          <a:ln w="12700">
            <a:solidFill>
              <a:srgbClr val="2DC6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11480" y="50749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C65C"/>
                </a:solidFill>
              </a:rPr>
              <a:t>Decision Logic / Notes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5413248"/>
            <a:ext cx="11155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8"/>
                </a:solidFill>
              </a:rPr>
              <a:t>• Schema injected into system prompt — LLM knows all 5 tables and join rules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5760720"/>
            <a:ext cx="11155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8"/>
                </a:solidFill>
              </a:rPr>
              <a:t>• Multi-query loop handles complex questions requiring multiple JOINs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6108192"/>
            <a:ext cx="11155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8"/>
                </a:solidFill>
              </a:rPr>
              <a:t>• sql_entities feeds directly into retrieve_node and orchestrator for targeted retrieval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6455664"/>
            <a:ext cx="11155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8"/>
                </a:solidFill>
              </a:rPr>
              <a:t>• Confidence fixed at 0.9 — structured SQL data is highly reliable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2DC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"/>
            <a:ext cx="12188952" cy="96012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🎯  Specialist Classifier Node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90E0EF"/>
                </a:solidFill>
              </a:rPr>
              <a:t>Decides which specialist agents run, in what order, with what focused sub-question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234440"/>
            <a:ext cx="11612880" cy="658368"/>
          </a:xfrm>
          <a:prstGeom prst="rect">
            <a:avLst/>
          </a:prstGeom>
          <a:solidFill>
            <a:srgbClr val="16283A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LLM chooses 0–3 specialists (supplier, shipment, inventory) and writes a focused sub_query for each. The ordering rule: most data-rich agent for the query runs first. SQL entity context is injected so the LLM knows exact entity names and can write precise sub-queries (e.g. 'Los Angeles Fulfillment Hub' not just 'the warehouse').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057400"/>
            <a:ext cx="3749039" cy="347472"/>
          </a:xfrm>
          <a:prstGeom prst="rect">
            <a:avLst/>
          </a:prstGeom>
          <a:solidFill>
            <a:srgbClr val="16283A"/>
          </a:solidFill>
          <a:ln w="19050">
            <a:solidFill>
              <a:srgbClr val="90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2103120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90E0EF"/>
                </a:solidFill>
              </a:rPr>
              <a:t>INPUTS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2468880"/>
            <a:ext cx="3657599" cy="347472"/>
          </a:xfrm>
          <a:prstGeom prst="rect">
            <a:avLst/>
          </a:prstGeom>
          <a:solidFill>
            <a:srgbClr val="12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2468880"/>
            <a:ext cx="35661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4D8"/>
                </a:solidFill>
              </a:rPr>
              <a:t>  query (str)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852928"/>
            <a:ext cx="3657599" cy="347472"/>
          </a:xfrm>
          <a:prstGeom prst="rect">
            <a:avLst/>
          </a:prstGeom>
          <a:solidFill>
            <a:srgbClr val="12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2852928"/>
            <a:ext cx="35661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4D8"/>
                </a:solidFill>
              </a:rPr>
              <a:t>  sql_entities — entity names from NL→SQL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3236976"/>
            <a:ext cx="3657599" cy="347472"/>
          </a:xfrm>
          <a:prstGeom prst="rect">
            <a:avLst/>
          </a:prstGeom>
          <a:solidFill>
            <a:srgbClr val="12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3236976"/>
            <a:ext cx="35661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4D8"/>
                </a:solidFill>
              </a:rPr>
              <a:t>  execution_log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06240" y="2057400"/>
            <a:ext cx="3749039" cy="347472"/>
          </a:xfrm>
          <a:prstGeom prst="rect">
            <a:avLst/>
          </a:prstGeom>
          <a:solidFill>
            <a:srgbClr val="16283A"/>
          </a:solidFill>
          <a:ln w="19050">
            <a:solidFill>
              <a:srgbClr val="F7B7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06240" y="2103120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7B731"/>
                </a:solidFill>
              </a:rPr>
              <a:t>CALLS / INVOKES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51960" y="2468880"/>
            <a:ext cx="3657599" cy="347472"/>
          </a:xfrm>
          <a:prstGeom prst="rect">
            <a:avLst/>
          </a:prstGeom>
          <a:solidFill>
            <a:srgbClr val="12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97680" y="2468880"/>
            <a:ext cx="35661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4D8"/>
                </a:solidFill>
              </a:rPr>
              <a:t>  chat([system, user+entity_context]) → LLM classification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51960" y="2852928"/>
            <a:ext cx="3657599" cy="347472"/>
          </a:xfrm>
          <a:prstGeom prst="rect">
            <a:avLst/>
          </a:prstGeom>
          <a:solidFill>
            <a:srgbClr val="12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97680" y="2852928"/>
            <a:ext cx="35661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4D8"/>
                </a:solidFill>
              </a:rPr>
              <a:t>  json.loads() → parse {agents: [{name, sub_query}]}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51960" y="3236976"/>
            <a:ext cx="3657599" cy="347472"/>
          </a:xfrm>
          <a:prstGeom prst="rect">
            <a:avLst/>
          </a:prstGeom>
          <a:solidFill>
            <a:srgbClr val="12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97680" y="3236976"/>
            <a:ext cx="35661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4D8"/>
                </a:solidFill>
              </a:rPr>
              <a:t>  keyword fallback — if JSON parse fails, use domain keywords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51960" y="3621024"/>
            <a:ext cx="3657599" cy="347472"/>
          </a:xfrm>
          <a:prstGeom prst="rect">
            <a:avLst/>
          </a:prstGeom>
          <a:solidFill>
            <a:srgbClr val="12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97680" y="3621024"/>
            <a:ext cx="35661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4D8"/>
                </a:solidFill>
              </a:rPr>
              <a:t>  route_after_classify() → 'retrieve_node' | 'recommendation_node'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38160" y="2057400"/>
            <a:ext cx="3749039" cy="347472"/>
          </a:xfrm>
          <a:prstGeom prst="rect">
            <a:avLst/>
          </a:prstGeom>
          <a:solidFill>
            <a:srgbClr val="16283A"/>
          </a:solidFill>
          <a:ln w="19050">
            <a:solidFill>
              <a:srgbClr val="2DC6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38160" y="2103120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DC65C"/>
                </a:solidFill>
              </a:rPr>
              <a:t>OUTPUTS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83880" y="2468880"/>
            <a:ext cx="3657599" cy="347472"/>
          </a:xfrm>
          <a:prstGeom prst="rect">
            <a:avLst/>
          </a:prstGeom>
          <a:solidFill>
            <a:srgbClr val="12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0" y="2468880"/>
            <a:ext cx="35661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4D8"/>
                </a:solidFill>
              </a:rPr>
              <a:t>  routed_agents — ordered list e.g. ['inventory', 'supplier']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183880" y="2852928"/>
            <a:ext cx="3657599" cy="347472"/>
          </a:xfrm>
          <a:prstGeom prst="rect">
            <a:avLst/>
          </a:prstGeom>
          <a:solidFill>
            <a:srgbClr val="12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0" y="2852928"/>
            <a:ext cx="35661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4D8"/>
                </a:solidFill>
              </a:rPr>
              <a:t>  agent_sub_queries — {agent: focused_question}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83880" y="3236976"/>
            <a:ext cx="3657599" cy="347472"/>
          </a:xfrm>
          <a:prstGeom prst="rect">
            <a:avLst/>
          </a:prstGeom>
          <a:solidFill>
            <a:srgbClr val="12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0" y="3236976"/>
            <a:ext cx="35661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4D8"/>
                </a:solidFill>
              </a:rPr>
              <a:t>  execution_log — updated with plan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5029200"/>
            <a:ext cx="11612880" cy="1554480"/>
          </a:xfrm>
          <a:prstGeom prst="rect">
            <a:avLst/>
          </a:prstGeom>
          <a:solidFill>
            <a:srgbClr val="16283A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1480" y="50749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Decision Logic / Notes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5413248"/>
            <a:ext cx="11155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8"/>
                </a:solidFill>
              </a:rPr>
              <a:t>• If 0 agents selected → skip to recommendation_node (SQL answer is sufficient)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5760720"/>
            <a:ext cx="11155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8"/>
                </a:solidFill>
              </a:rPr>
              <a:t>• Entity context injection: 'SQL identified suppliers: GlobalTech, Apex Mfg'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6108192"/>
            <a:ext cx="11155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8"/>
                </a:solidFill>
              </a:rPr>
              <a:t>• Ordering matters — earlier agents' findings are fed to later agents as prior_findings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6455664"/>
            <a:ext cx="11155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8"/>
                </a:solidFill>
              </a:rPr>
              <a:t>• Keyword fallback covers malformed LLM JSON responses gracefully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"/>
            <a:ext cx="12188952" cy="91440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🗄️  Vector Retrieval Node — Hybrid RAG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90E0EF"/>
                </a:solidFill>
              </a:rPr>
              <a:t>3-step retrieval: profile docs (aggregated) + shipment events + reranker fusion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234440"/>
            <a:ext cx="11612880" cy="1463040"/>
          </a:xfrm>
          <a:prstGeom prst="rect">
            <a:avLst/>
          </a:prstGeom>
          <a:solidFill>
            <a:srgbClr val="16283A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07592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</a:rPr>
              <a:t>Step 1 — Profile Docs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09928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8"/>
                </a:solidFill>
              </a:rPr>
              <a:t>hybrid_search(query, filters={doc_type: supplier_profile | warehouse_profile, entity_names})
Fetches pre-aggregated performance profiles for SQL-identified entities.
Contains: delay rates, avg delay, inventory impact, reliability scores.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862072"/>
            <a:ext cx="11612880" cy="1463040"/>
          </a:xfrm>
          <a:prstGeom prst="rect">
            <a:avLst/>
          </a:prstGeom>
          <a:solidFill>
            <a:srgbClr val="16283A"/>
          </a:solidFill>
          <a:ln w="19050">
            <a:solidFill>
              <a:srgbClr val="2DC6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935224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DC65C"/>
                </a:solidFill>
              </a:rPr>
              <a:t>Step 2 — Shipment Events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3375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8"/>
                </a:solidFill>
              </a:rPr>
              <a:t>hybrid_search(query, top_k=15, entity_filter)
Fetches individual shipment/incident records for granular context.
Fallback: relaxes entity filter if &lt; 2 docs returned.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4489704"/>
            <a:ext cx="11612880" cy="1463040"/>
          </a:xfrm>
          <a:prstGeom prst="rect">
            <a:avLst/>
          </a:prstGeom>
          <a:solidFill>
            <a:srgbClr val="16283A"/>
          </a:solidFill>
          <a:ln w="19050">
            <a:solidFill>
              <a:srgbClr val="F7B7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4562856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7B731"/>
                </a:solidFill>
              </a:rPr>
              <a:t>Step 3 — Reranker Fusion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96519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8"/>
                </a:solidFill>
              </a:rPr>
              <a:t>rerank(query, shipment_docs, top_k=remaining)
Cross-encoder reranker scores remaining slots after profiles guaranteed.
Ensures most relevant docs fill remaining top_k budget.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6172200"/>
            <a:ext cx="11612880" cy="548640"/>
          </a:xfrm>
          <a:prstGeom prst="rect">
            <a:avLst/>
          </a:prstGeom>
          <a:solidFill>
            <a:srgbClr val="101E2D"/>
          </a:solidFill>
          <a:ln w="12700">
            <a:solidFill>
              <a:srgbClr val="90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619963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B0C4D8"/>
                </a:solidFill>
              </a:rPr>
              <a:t>hybrid_search = ChromaDB vector similarity (embeddings) + BM25 keyword index, merged with Reciprocal Rank Fusion (RRF). Captures both semantic and exact-keyword relevance.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AA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"/>
            <a:ext cx="12188952" cy="91440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🎛️  Orchestrator Node — Specialist Agent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90E0EF"/>
                </a:solidFill>
              </a:rPr>
              <a:t>Runs specialist agents in classifier-determined order; each agent receives focused sub-queries + targeted documents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5669280" cy="3474720"/>
          </a:xfrm>
          <a:prstGeom prst="rect">
            <a:avLst/>
          </a:prstGeom>
          <a:solidFill>
            <a:srgbClr val="16283A"/>
          </a:solidFill>
          <a:ln w="19050">
            <a:solidFill>
              <a:srgbClr val="AA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2344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A77FF"/>
                </a:solidFill>
              </a:rPr>
              <a:t>Execution Sequence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64208"/>
            <a:ext cx="5394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8"/>
                </a:solidFill>
              </a:rPr>
              <a:t>1. Read ordered agent list from classify_node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94560"/>
            <a:ext cx="5394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8"/>
                </a:solidFill>
              </a:rPr>
              <a:t>2. For each agent: call _targeted_docs() → fetch profile + shipment docs via hybrid_search + reranker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724912"/>
            <a:ext cx="5394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8"/>
                </a:solidFill>
              </a:rPr>
              <a:t>3. Call _run_agent() with: focused sub_query, targeted docs, prior agent findings (context chaining)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255264"/>
            <a:ext cx="5394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8"/>
                </a:solidFill>
              </a:rPr>
              <a:t>4. Store result in agent_findings[agent_name]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785616"/>
            <a:ext cx="5394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8"/>
                </a:solidFill>
              </a:rPr>
              <a:t>5. Append rich log entry: risk_level, confidence, affected_suppliers / warehouses_at_risk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188720"/>
            <a:ext cx="1874519" cy="3520440"/>
          </a:xfrm>
          <a:prstGeom prst="rect">
            <a:avLst/>
          </a:prstGeom>
          <a:solidFill>
            <a:srgbClr val="16283A"/>
          </a:solidFill>
          <a:ln w="25400">
            <a:solidFill>
              <a:srgbClr val="EF47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1234440"/>
            <a:ext cx="187451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EF474A"/>
                </a:solidFill>
              </a:rPr>
              <a:t>🏭 Supplier Risk Agent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1755648"/>
            <a:ext cx="171907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C4D8"/>
                </a:solidFill>
              </a:rPr>
              <a:t>• Supplier profiles: delay rate, defect rate, reliability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2441448"/>
            <a:ext cx="171907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C4D8"/>
                </a:solidFill>
              </a:rPr>
              <a:t>• Identifies high-risk / underperforming suppliers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3127248"/>
            <a:ext cx="171907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C4D8"/>
                </a:solidFill>
              </a:rPr>
              <a:t>• Outputs: risk_level, confidence, affected_suppliers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11312" y="1188720"/>
            <a:ext cx="1874519" cy="3520440"/>
          </a:xfrm>
          <a:prstGeom prst="rect">
            <a:avLst/>
          </a:prstGeom>
          <a:solidFill>
            <a:srgbClr val="16283A"/>
          </a:solidFill>
          <a:ln w="25400">
            <a:solidFill>
              <a:srgbClr val="F7B7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11312" y="1234440"/>
            <a:ext cx="187451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7B731"/>
                </a:solidFill>
              </a:rPr>
              <a:t>🚢 Shipment Agent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02752" y="1755648"/>
            <a:ext cx="171907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C4D8"/>
                </a:solidFill>
              </a:rPr>
              <a:t>• Shipment events: delays, carriers, routes, regions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02752" y="2441448"/>
            <a:ext cx="171907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C4D8"/>
                </a:solidFill>
              </a:rPr>
              <a:t>• Detects at-risk or delayed shipments by mode/carrier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02752" y="3127248"/>
            <a:ext cx="171907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C4D8"/>
                </a:solidFill>
              </a:rPr>
              <a:t>• Outputs: risk_level, confidence, top findings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204704" y="1188720"/>
            <a:ext cx="1874519" cy="3520440"/>
          </a:xfrm>
          <a:prstGeom prst="rect">
            <a:avLst/>
          </a:prstGeom>
          <a:solidFill>
            <a:srgbClr val="16283A"/>
          </a:solidFill>
          <a:ln w="25400">
            <a:solidFill>
              <a:srgbClr val="2DC6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204704" y="1234440"/>
            <a:ext cx="187451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DC65C"/>
                </a:solidFill>
              </a:rPr>
              <a:t>📦 Inventory Agent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96144" y="1755648"/>
            <a:ext cx="171907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C4D8"/>
                </a:solidFill>
              </a:rPr>
              <a:t>• Warehouse profiles: capacity, utilisation, region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96144" y="2441448"/>
            <a:ext cx="171907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C4D8"/>
                </a:solidFill>
              </a:rPr>
              <a:t>• Identifies stockout risk, low inventory, reorder needs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96144" y="3127248"/>
            <a:ext cx="171907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C4D8"/>
                </a:solidFill>
              </a:rPr>
              <a:t>• Outputs: risk_level, confidence, warehouses_at_risk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4846320"/>
            <a:ext cx="11612880" cy="1783080"/>
          </a:xfrm>
          <a:prstGeom prst="rect">
            <a:avLst/>
          </a:prstGeom>
          <a:solidFill>
            <a:srgbClr val="101E2D"/>
          </a:solidFill>
          <a:ln w="15240">
            <a:solidFill>
              <a:srgbClr val="F7B7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489204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7B731"/>
                </a:solidFill>
              </a:rPr>
              <a:t>Context Chaining (Key Design Pattern)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5257800"/>
            <a:ext cx="11155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8"/>
                </a:solidFill>
              </a:rPr>
              <a:t>Each agent receives findings_so_far (all prior agents' outputs) as prior_findings input.
Example: Inventory Agent sees Supplier Risk findings → can correlate supplier delays with stockout risk.
This enables cross-domain anomaly detection without re-querying the same data.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AA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"/>
            <a:ext cx="12188952" cy="96012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✦  Summary Node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90E0EF"/>
                </a:solidFill>
              </a:rPr>
              <a:t>Synthesises all agent findings into a coherent, human-readable narrative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234440"/>
            <a:ext cx="11612880" cy="658368"/>
          </a:xfrm>
          <a:prstGeom prst="rect">
            <a:avLst/>
          </a:prstGeom>
          <a:solidFill>
            <a:srgbClr val="16283A"/>
          </a:solidFill>
          <a:ln w="15240">
            <a:solidFill>
              <a:srgbClr val="90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SummaryAgent.summarize() receives the query and all agent_findings (nlsql, supplier, shipment, inventory) and produces a unified answer. Also runs _detect_anomaly_correlations() to identify cross-domain cascade patterns. Computes overall confidence as the mean of all individual agent confidence scores.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057400"/>
            <a:ext cx="3749039" cy="347472"/>
          </a:xfrm>
          <a:prstGeom prst="rect">
            <a:avLst/>
          </a:prstGeom>
          <a:solidFill>
            <a:srgbClr val="16283A"/>
          </a:solidFill>
          <a:ln w="19050">
            <a:solidFill>
              <a:srgbClr val="90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2103120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90E0EF"/>
                </a:solidFill>
              </a:rPr>
              <a:t>INPUTS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2468880"/>
            <a:ext cx="3657599" cy="347472"/>
          </a:xfrm>
          <a:prstGeom prst="rect">
            <a:avLst/>
          </a:prstGeom>
          <a:solidFill>
            <a:srgbClr val="12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2468880"/>
            <a:ext cx="35661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4D8"/>
                </a:solidFill>
              </a:rPr>
              <a:t>  query (str)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852928"/>
            <a:ext cx="3657599" cy="347472"/>
          </a:xfrm>
          <a:prstGeom prst="rect">
            <a:avLst/>
          </a:prstGeom>
          <a:solidFill>
            <a:srgbClr val="12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2852928"/>
            <a:ext cx="35661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4D8"/>
                </a:solidFill>
              </a:rPr>
              <a:t>  agent_findings — all agent outputs keyed by name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3236976"/>
            <a:ext cx="3657599" cy="347472"/>
          </a:xfrm>
          <a:prstGeom prst="rect">
            <a:avLst/>
          </a:prstGeom>
          <a:solidFill>
            <a:srgbClr val="12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3236976"/>
            <a:ext cx="35661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4D8"/>
                </a:solidFill>
              </a:rPr>
              <a:t>  execution_log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06240" y="2057400"/>
            <a:ext cx="3749039" cy="347472"/>
          </a:xfrm>
          <a:prstGeom prst="rect">
            <a:avLst/>
          </a:prstGeom>
          <a:solidFill>
            <a:srgbClr val="16283A"/>
          </a:solidFill>
          <a:ln w="19050">
            <a:solidFill>
              <a:srgbClr val="F7B7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06240" y="2103120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7B731"/>
                </a:solidFill>
              </a:rPr>
              <a:t>CALLS / INVOKES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51960" y="2468880"/>
            <a:ext cx="3657599" cy="347472"/>
          </a:xfrm>
          <a:prstGeom prst="rect">
            <a:avLst/>
          </a:prstGeom>
          <a:solidFill>
            <a:srgbClr val="12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97680" y="2468880"/>
            <a:ext cx="35661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4D8"/>
                </a:solidFill>
              </a:rPr>
              <a:t>  SummaryAgent().summarize(query, findings) → LLM synthesis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51960" y="2852928"/>
            <a:ext cx="3657599" cy="347472"/>
          </a:xfrm>
          <a:prstGeom prst="rect">
            <a:avLst/>
          </a:prstGeom>
          <a:solidFill>
            <a:srgbClr val="12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97680" y="2852928"/>
            <a:ext cx="35661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4D8"/>
                </a:solidFill>
              </a:rPr>
              <a:t>  _detect_anomaly_correlations(findings) → cross-agent pattern matching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51960" y="3236976"/>
            <a:ext cx="3657599" cy="347472"/>
          </a:xfrm>
          <a:prstGeom prst="rect">
            <a:avLst/>
          </a:prstGeom>
          <a:solidFill>
            <a:srgbClr val="12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97680" y="3236976"/>
            <a:ext cx="35661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4D8"/>
                </a:solidFill>
              </a:rPr>
              <a:t>  mean(confidences) → overall confidence score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38160" y="2057400"/>
            <a:ext cx="3749039" cy="347472"/>
          </a:xfrm>
          <a:prstGeom prst="rect">
            <a:avLst/>
          </a:prstGeom>
          <a:solidFill>
            <a:srgbClr val="16283A"/>
          </a:solidFill>
          <a:ln w="19050">
            <a:solidFill>
              <a:srgbClr val="2DC6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38160" y="2103120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DC65C"/>
                </a:solidFill>
              </a:rPr>
              <a:t>OUTPUTS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83880" y="2468880"/>
            <a:ext cx="3657599" cy="347472"/>
          </a:xfrm>
          <a:prstGeom prst="rect">
            <a:avLst/>
          </a:prstGeom>
          <a:solidFill>
            <a:srgbClr val="12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0" y="2468880"/>
            <a:ext cx="35661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4D8"/>
                </a:solidFill>
              </a:rPr>
              <a:t>  answer — unified narrative summary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83880" y="2852928"/>
            <a:ext cx="3657599" cy="347472"/>
          </a:xfrm>
          <a:prstGeom prst="rect">
            <a:avLst/>
          </a:prstGeom>
          <a:solidFill>
            <a:srgbClr val="12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0" y="2852928"/>
            <a:ext cx="35661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4D8"/>
                </a:solidFill>
              </a:rPr>
              <a:t>  anomaly_correlations — list of detected cascade patterns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183880" y="3236976"/>
            <a:ext cx="3657599" cy="347472"/>
          </a:xfrm>
          <a:prstGeom prst="rect">
            <a:avLst/>
          </a:prstGeom>
          <a:solidFill>
            <a:srgbClr val="12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0" y="3236976"/>
            <a:ext cx="35661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4D8"/>
                </a:solidFill>
              </a:rPr>
              <a:t>  confidence_score — mean of all agent confidences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83880" y="3621024"/>
            <a:ext cx="3657599" cy="347472"/>
          </a:xfrm>
          <a:prstGeom prst="rect">
            <a:avLst/>
          </a:prstGeom>
          <a:solidFill>
            <a:srgbClr val="12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0" y="3621024"/>
            <a:ext cx="35661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4D8"/>
                </a:solidFill>
              </a:rPr>
              <a:t>  execution_log — updated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5029200"/>
            <a:ext cx="11612880" cy="1554480"/>
          </a:xfrm>
          <a:prstGeom prst="rect">
            <a:avLst/>
          </a:prstGeom>
          <a:solidFill>
            <a:srgbClr val="16283A"/>
          </a:solidFill>
          <a:ln w="12700">
            <a:solidFill>
              <a:srgbClr val="90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1480" y="50749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0E0EF"/>
                </a:solidFill>
              </a:rPr>
              <a:t>Decision Logic / Notes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5413248"/>
            <a:ext cx="11155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8"/>
                </a:solidFill>
              </a:rPr>
              <a:t>• 3 anomaly patterns checked: supplier↔inventory cascade, shipment+supplier compound, inventory+shipment stockout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5760720"/>
            <a:ext cx="11155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8"/>
                </a:solidFill>
              </a:rPr>
              <a:t>• anomaly_correlations exposed to frontend as distinct alert cards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6108192"/>
            <a:ext cx="11155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8"/>
                </a:solidFill>
              </a:rPr>
              <a:t>• confidence = mean across agents — a single low-confidence agent drags the overall score down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2DC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"/>
            <a:ext cx="12188952" cy="96012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💡  Recommendation Engine Node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90E0EF"/>
                </a:solidFill>
              </a:rPr>
              <a:t>Generates prioritised, domain-specific actionable recommendations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234440"/>
            <a:ext cx="11612880" cy="658368"/>
          </a:xfrm>
          <a:prstGeom prst="rect">
            <a:avLst/>
          </a:prstGeom>
          <a:solidFill>
            <a:srgbClr val="16283A"/>
          </a:solidFill>
          <a:ln w="15240">
            <a:solidFill>
              <a:srgbClr val="2DC6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RecommendationAgent.analyze() receives the original query and all agent findings (including anomaly correlations from summary_node). Generates a list of actionable recommendations with priority, category, and rationale — drawn from all evidence across SQL data, vector-retrieved docs, and specialist agent analyses.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057400"/>
            <a:ext cx="3749039" cy="347472"/>
          </a:xfrm>
          <a:prstGeom prst="rect">
            <a:avLst/>
          </a:prstGeom>
          <a:solidFill>
            <a:srgbClr val="16283A"/>
          </a:solidFill>
          <a:ln w="19050">
            <a:solidFill>
              <a:srgbClr val="90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2103120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90E0EF"/>
                </a:solidFill>
              </a:rPr>
              <a:t>INPUTS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2468880"/>
            <a:ext cx="3657599" cy="347472"/>
          </a:xfrm>
          <a:prstGeom prst="rect">
            <a:avLst/>
          </a:prstGeom>
          <a:solidFill>
            <a:srgbClr val="12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2468880"/>
            <a:ext cx="35661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4D8"/>
                </a:solidFill>
              </a:rPr>
              <a:t>  query (str)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852928"/>
            <a:ext cx="3657599" cy="347472"/>
          </a:xfrm>
          <a:prstGeom prst="rect">
            <a:avLst/>
          </a:prstGeom>
          <a:solidFill>
            <a:srgbClr val="12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2852928"/>
            <a:ext cx="35661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4D8"/>
                </a:solidFill>
              </a:rPr>
              <a:t>  agent_findings — all findings including anomalies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3236976"/>
            <a:ext cx="3657599" cy="347472"/>
          </a:xfrm>
          <a:prstGeom prst="rect">
            <a:avLst/>
          </a:prstGeom>
          <a:solidFill>
            <a:srgbClr val="12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3236976"/>
            <a:ext cx="35661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4D8"/>
                </a:solidFill>
              </a:rPr>
              <a:t>  execution_log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06240" y="2057400"/>
            <a:ext cx="3749039" cy="347472"/>
          </a:xfrm>
          <a:prstGeom prst="rect">
            <a:avLst/>
          </a:prstGeom>
          <a:solidFill>
            <a:srgbClr val="16283A"/>
          </a:solidFill>
          <a:ln w="19050">
            <a:solidFill>
              <a:srgbClr val="F7B7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06240" y="2103120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7B731"/>
                </a:solidFill>
              </a:rPr>
              <a:t>CALLS / INVOKES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51960" y="2468880"/>
            <a:ext cx="3657599" cy="347472"/>
          </a:xfrm>
          <a:prstGeom prst="rect">
            <a:avLst/>
          </a:prstGeom>
          <a:solidFill>
            <a:srgbClr val="12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97680" y="2468880"/>
            <a:ext cx="35661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4D8"/>
                </a:solidFill>
              </a:rPr>
              <a:t>  RecommendationAgent().analyze(query, findings) → LLM generation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38160" y="2057400"/>
            <a:ext cx="3749039" cy="347472"/>
          </a:xfrm>
          <a:prstGeom prst="rect">
            <a:avLst/>
          </a:prstGeom>
          <a:solidFill>
            <a:srgbClr val="16283A"/>
          </a:solidFill>
          <a:ln w="19050">
            <a:solidFill>
              <a:srgbClr val="2DC6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38160" y="2103120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DC65C"/>
                </a:solidFill>
              </a:rPr>
              <a:t>OUTPUTS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83880" y="2468880"/>
            <a:ext cx="3657599" cy="347472"/>
          </a:xfrm>
          <a:prstGeom prst="rect">
            <a:avLst/>
          </a:prstGeom>
          <a:solidFill>
            <a:srgbClr val="12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0" y="2468880"/>
            <a:ext cx="35661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4D8"/>
                </a:solidFill>
              </a:rPr>
              <a:t>  recommendations — list of {priority, category, action, rationale}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83880" y="2852928"/>
            <a:ext cx="3657599" cy="347472"/>
          </a:xfrm>
          <a:prstGeom prst="rect">
            <a:avLst/>
          </a:prstGeom>
          <a:solidFill>
            <a:srgbClr val="12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0" y="2852928"/>
            <a:ext cx="35661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4D8"/>
                </a:solidFill>
              </a:rPr>
              <a:t>  execution_log — updated with count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5029200"/>
            <a:ext cx="11612880" cy="1554480"/>
          </a:xfrm>
          <a:prstGeom prst="rect">
            <a:avLst/>
          </a:prstGeom>
          <a:solidFill>
            <a:srgbClr val="16283A"/>
          </a:solidFill>
          <a:ln w="12700">
            <a:solidFill>
              <a:srgbClr val="2DC6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" y="50749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C65C"/>
                </a:solidFill>
              </a:rPr>
              <a:t>Decision Logic / Notes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5413248"/>
            <a:ext cx="11155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8"/>
                </a:solidFill>
              </a:rPr>
              <a:t>• Recommendations are the final user-facing output alongside the answer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5760720"/>
            <a:ext cx="11155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8"/>
                </a:solidFill>
              </a:rPr>
              <a:t>• Each recommendation tagged with: domain (supplier/shipment/inventory), priority (high/medium/low)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108192"/>
            <a:ext cx="11155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8"/>
                </a:solidFill>
              </a:rPr>
              <a:t>• Runs as last node before END in both paths: specialists ran OR SQL-only path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55664"/>
            <a:ext cx="11155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8"/>
                </a:solidFill>
              </a:rPr>
              <a:t>• Frontend RecommendationCard component renders each rec with colour-coded priority badges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2DC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2DC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"/>
            <a:ext cx="12188952" cy="86868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0972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Anomaly Correlation &amp; Evaluation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0972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90E0EF"/>
                </a:solidFill>
              </a:rPr>
              <a:t>Cross-agent anomaly detection + automated RAG faithfulness &amp; relevance scoring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70432"/>
            <a:ext cx="11567160" cy="1261872"/>
          </a:xfrm>
          <a:prstGeom prst="rect">
            <a:avLst/>
          </a:prstGeom>
          <a:solidFill>
            <a:srgbClr val="16283A"/>
          </a:solidFill>
          <a:ln w="22860">
            <a:solidFill>
              <a:srgbClr val="EF47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F474A"/>
                </a:solidFill>
              </a:rPr>
              <a:t>Supplier → Inventory Cascade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09344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8"/>
                </a:solidFill>
              </a:rPr>
              <a:t>Triggered when: supplier risk = HIGH and inventory risk = MEDIUM|HIGH
Meaning: Supplier delivery delays are correlating with warehouse depletion.
Severity: HIGH — requires immediate dual remediation.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587752"/>
            <a:ext cx="11567160" cy="1261872"/>
          </a:xfrm>
          <a:prstGeom prst="rect">
            <a:avLst/>
          </a:prstGeom>
          <a:solidFill>
            <a:srgbClr val="16283A"/>
          </a:solidFill>
          <a:ln w="22860">
            <a:solidFill>
              <a:srgbClr val="F7B7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65176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7B731"/>
                </a:solidFill>
              </a:rPr>
              <a:t>Shipment + Supplier Compound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026664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8"/>
                </a:solidFill>
              </a:rPr>
              <a:t>Triggered when: shipment risk = HIGH and supplier risk = MEDIUM|HIGH
Meaning: Concurrent disruptions create a compounded bottleneck across two domains.
Severity: HIGH — single-point mitigation is insufficient.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4005072"/>
            <a:ext cx="11567160" cy="1261872"/>
          </a:xfrm>
          <a:prstGeom prst="rect">
            <a:avLst/>
          </a:prstGeom>
          <a:solidFill>
            <a:srgbClr val="16283A"/>
          </a:solidFill>
          <a:ln w="22860">
            <a:solidFill>
              <a:srgbClr val="2DC6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406908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C65C"/>
                </a:solidFill>
              </a:rPr>
              <a:t>Inventory + Shipment Stockout Risk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443984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8"/>
                </a:solidFill>
              </a:rPr>
              <a:t>Triggered when: inventory risk = HIGH and shipment risk = MEDIUM|HIGH
Meaning: Delayed inbound shipments compounding already-low stock levels.
Severity: MEDIUM — stockout window is narrowing.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5468112"/>
            <a:ext cx="11567160" cy="1234440"/>
          </a:xfrm>
          <a:prstGeom prst="rect">
            <a:avLst/>
          </a:prstGeom>
          <a:solidFill>
            <a:srgbClr val="16283A"/>
          </a:solidFill>
          <a:ln w="15240">
            <a:solidFill>
              <a:srgbClr val="90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5504688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90E0EF"/>
                </a:solidFill>
              </a:rPr>
              <a:t>Automated Evaluation (evaluation/runner.py)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89788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8"/>
                </a:solidFill>
              </a:rPr>
              <a:t>• Faithfulness — answer grounded in retrieved docs/SQL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26364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8"/>
                </a:solidFill>
              </a:rPr>
              <a:t>• Context Relevance — retrieved docs match the query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589788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8"/>
                </a:solidFill>
              </a:rPr>
              <a:t>• Answer Confidence — aggregated agent confidence scores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626364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8"/>
                </a:solidFill>
              </a:rPr>
              <a:t>• Anomaly Count — cross-domain correlation detections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2DC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"/>
            <a:ext cx="12188952" cy="82296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Technology Stack &amp; Data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097280"/>
            <a:ext cx="2834640" cy="5349240"/>
          </a:xfrm>
          <a:prstGeom prst="rect">
            <a:avLst/>
          </a:prstGeom>
          <a:solidFill>
            <a:srgbClr val="16283A"/>
          </a:solidFill>
          <a:ln w="254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152144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0B4D8"/>
                </a:solidFill>
              </a:rPr>
              <a:t>Frontend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600200"/>
            <a:ext cx="2606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8"/>
                </a:solidFill>
              </a:rPr>
              <a:t>• React 18 + Vite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468880"/>
            <a:ext cx="2606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8"/>
                </a:solidFill>
              </a:rPr>
              <a:t>• React Router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337560"/>
            <a:ext cx="2606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8"/>
                </a:solidFill>
              </a:rPr>
              <a:t>• Custom Hooks (useSupplyChain)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4206240"/>
            <a:ext cx="2606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8"/>
                </a:solidFill>
              </a:rPr>
              <a:t>• Axios REST client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5074920"/>
            <a:ext cx="2606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8"/>
                </a:solidFill>
              </a:rPr>
              <a:t>• CSS Modules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0" y="1097280"/>
            <a:ext cx="2834640" cy="5349240"/>
          </a:xfrm>
          <a:prstGeom prst="rect">
            <a:avLst/>
          </a:prstGeom>
          <a:solidFill>
            <a:srgbClr val="16283A"/>
          </a:solidFill>
          <a:ln w="25400">
            <a:solidFill>
              <a:srgbClr val="2DC6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0" y="1152144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DC65C"/>
                </a:solidFill>
              </a:rPr>
              <a:t>Backend 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1600200"/>
            <a:ext cx="2606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8"/>
                </a:solidFill>
              </a:rPr>
              <a:t>• FastAPI (Python 3.12)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37560" y="2468880"/>
            <a:ext cx="2606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8"/>
                </a:solidFill>
              </a:rPr>
              <a:t>• Pydantic schemas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3337560"/>
            <a:ext cx="2606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8"/>
                </a:solidFill>
              </a:rPr>
              <a:t>• Async endpoints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37560" y="4206240"/>
            <a:ext cx="2606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8"/>
                </a:solidFill>
              </a:rPr>
              <a:t>• LangGraph StateGraph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5074920"/>
            <a:ext cx="2606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8"/>
                </a:solidFill>
              </a:rPr>
              <a:t>• Evaluation runner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72200" y="1097280"/>
            <a:ext cx="2834640" cy="5349240"/>
          </a:xfrm>
          <a:prstGeom prst="rect">
            <a:avLst/>
          </a:prstGeom>
          <a:solidFill>
            <a:srgbClr val="16283A"/>
          </a:solidFill>
          <a:ln w="25400">
            <a:solidFill>
              <a:srgbClr val="AA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72200" y="1152144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AA77FF"/>
                </a:solidFill>
              </a:rPr>
              <a:t>AI / LLM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1600200"/>
            <a:ext cx="2606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8"/>
                </a:solidFill>
              </a:rPr>
              <a:t>• OpenAI via internal gateway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2468880"/>
            <a:ext cx="2606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8"/>
                </a:solidFill>
              </a:rPr>
              <a:t>• 6 specialist agents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3337560"/>
            <a:ext cx="2606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8"/>
                </a:solidFill>
              </a:rPr>
              <a:t>• NL-to-SQL chat loop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4206240"/>
            <a:ext cx="2606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8"/>
                </a:solidFill>
              </a:rPr>
              <a:t>• Hybrid RAG pipeline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5074920"/>
            <a:ext cx="2606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8"/>
                </a:solidFill>
              </a:rPr>
              <a:t>• Cross-encoder reranker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44000" y="1097280"/>
            <a:ext cx="2834640" cy="5349240"/>
          </a:xfrm>
          <a:prstGeom prst="rect">
            <a:avLst/>
          </a:prstGeom>
          <a:solidFill>
            <a:srgbClr val="16283A"/>
          </a:solidFill>
          <a:ln w="25400">
            <a:solidFill>
              <a:srgbClr val="F7B7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0" y="1152144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7B731"/>
                </a:solidFill>
              </a:rPr>
              <a:t>Data Layer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81160" y="1600200"/>
            <a:ext cx="2606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8"/>
                </a:solidFill>
              </a:rPr>
              <a:t>• SQLite (structured ops data)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81160" y="2468880"/>
            <a:ext cx="2606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8"/>
                </a:solidFill>
              </a:rPr>
              <a:t>• ChromaDB (vector store)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81160" y="3337560"/>
            <a:ext cx="2606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8"/>
                </a:solidFill>
              </a:rPr>
              <a:t>• BM25 keyword index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81160" y="4206240"/>
            <a:ext cx="2606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8"/>
                </a:solidFill>
              </a:rPr>
              <a:t>• Supplier / Warehouse profiles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81160" y="5074920"/>
            <a:ext cx="2606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8"/>
                </a:solidFill>
              </a:rPr>
              <a:t>• Shipment event documents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28600" y="6510528"/>
            <a:ext cx="11567160" cy="228600"/>
          </a:xfrm>
          <a:prstGeom prst="rect">
            <a:avLst/>
          </a:prstGeom>
          <a:solidFill>
            <a:srgbClr val="16283A"/>
          </a:solidFill>
          <a:ln w="1016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651052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C4D8"/>
                </a:solidFill>
              </a:rPr>
              <a:t>SQLite tables: suppliers · products · warehouses · inventory · shipments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"/>
            <a:ext cx="12188952" cy="82296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0972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Business Value &amp; Key Capabilities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256032" y="1078992"/>
            <a:ext cx="3794760" cy="2057400"/>
          </a:xfrm>
          <a:prstGeom prst="rect">
            <a:avLst/>
          </a:prstGeom>
          <a:solidFill>
            <a:srgbClr val="16283A"/>
          </a:solidFill>
          <a:ln w="254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93192" y="1170432"/>
            <a:ext cx="3611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Natural Language Interface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" y="1609344"/>
            <a:ext cx="35661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4D8"/>
                </a:solidFill>
              </a:rPr>
              <a:t>Business users query supply chain data in plain English — no SQL expertise required.
Input guardrail ensures security: PII blocking, length &amp; format validation.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4215384" y="1078992"/>
            <a:ext cx="3794760" cy="2057400"/>
          </a:xfrm>
          <a:prstGeom prst="rect">
            <a:avLst/>
          </a:prstGeom>
          <a:solidFill>
            <a:srgbClr val="16283A"/>
          </a:solidFill>
          <a:ln w="25400">
            <a:solidFill>
              <a:srgbClr val="EF47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52544" y="1170432"/>
            <a:ext cx="3611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F474A"/>
                </a:solidFill>
              </a:rPr>
              <a:t>Real-Time Risk Intelligence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52544" y="1609344"/>
            <a:ext cx="35661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4D8"/>
                </a:solidFill>
              </a:rPr>
              <a:t>Three specialist AI agents run in parallel-aware, context-chained order.
Risk levels (high/medium/low) surfaced per domain with confidence scores.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74736" y="1078992"/>
            <a:ext cx="3794760" cy="2057400"/>
          </a:xfrm>
          <a:prstGeom prst="rect">
            <a:avLst/>
          </a:prstGeom>
          <a:solidFill>
            <a:srgbClr val="16283A"/>
          </a:solidFill>
          <a:ln w="25400">
            <a:solidFill>
              <a:srgbClr val="F7B7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11896" y="1170432"/>
            <a:ext cx="3611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7B731"/>
                </a:solidFill>
              </a:rPr>
              <a:t>Cross-Domain Anomaly Detection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11896" y="1609344"/>
            <a:ext cx="35661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4D8"/>
                </a:solidFill>
              </a:rPr>
              <a:t>3 anomaly correlation patterns detect cascade failures across supplier, shipment &amp; inventory domains.
Prevents siloed analysis that misses multi-domain compounding effects.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6032" y="3300984"/>
            <a:ext cx="3794760" cy="2057400"/>
          </a:xfrm>
          <a:prstGeom prst="rect">
            <a:avLst/>
          </a:prstGeom>
          <a:solidFill>
            <a:srgbClr val="16283A"/>
          </a:solidFill>
          <a:ln w="25400">
            <a:solidFill>
              <a:srgbClr val="2DC6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3192" y="3392424"/>
            <a:ext cx="3611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C65C"/>
                </a:solidFill>
              </a:rPr>
              <a:t>Actionable Recommendations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192" y="3831336"/>
            <a:ext cx="35661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4D8"/>
                </a:solidFill>
              </a:rPr>
              <a:t>Recommendation Engine generates domain-specific, prioritised actions.
Based on all agent findings — not just a single data source.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15384" y="3300984"/>
            <a:ext cx="3794760" cy="2057400"/>
          </a:xfrm>
          <a:prstGeom prst="rect">
            <a:avLst/>
          </a:prstGeom>
          <a:solidFill>
            <a:srgbClr val="16283A"/>
          </a:solidFill>
          <a:ln w="25400">
            <a:solidFill>
              <a:srgbClr val="AA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52544" y="3392424"/>
            <a:ext cx="3611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A77FF"/>
                </a:solidFill>
              </a:rPr>
              <a:t>Full Observability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52544" y="3831336"/>
            <a:ext cx="35661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4D8"/>
                </a:solidFill>
              </a:rPr>
              <a:t>Every pipeline step logged with: timing (ms), confidence, risk level, top finding.
Frontend Agent Trace panel lets users inspect every decision the system made.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74736" y="3300984"/>
            <a:ext cx="3794760" cy="2057400"/>
          </a:xfrm>
          <a:prstGeom prst="rect">
            <a:avLst/>
          </a:prstGeom>
          <a:solidFill>
            <a:srgbClr val="16283A"/>
          </a:solidFill>
          <a:ln w="25400">
            <a:solidFill>
              <a:srgbClr val="90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11896" y="3392424"/>
            <a:ext cx="3611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90E0EF"/>
                </a:solidFill>
              </a:rPr>
              <a:t>Hybrid RAG — Best of Both Worlds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11896" y="3831336"/>
            <a:ext cx="35661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4D8"/>
                </a:solidFill>
              </a:rPr>
              <a:t>ChromaDB vector search (semantic) + BM25 (keyword) + cross-encoder reranker.
Handles both vague semantic queries and precise entity-specific lookups.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Live Demo Walk-Through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2148840"/>
            <a:ext cx="11430000" cy="1188720"/>
          </a:xfrm>
          <a:prstGeom prst="rect">
            <a:avLst/>
          </a:prstGeom>
          <a:solidFill>
            <a:srgbClr val="16283A"/>
          </a:solidFill>
          <a:ln w="22860">
            <a:solidFill>
              <a:srgbClr val="EF47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21284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F474A"/>
                </a:solidFill>
              </a:rPr>
              <a:t>Supplier Risk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8775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FFFFF"/>
                </a:solidFill>
              </a:rPr>
              <a:t>"Which suppliers have the highest defect rates and are causing inventory issues?"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95351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4D8"/>
                </a:solidFill>
              </a:rPr>
              <a:t>Triggers: NL→SQL → Supplier Risk Agent → Inventory Agent → Anomaly Correlation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3520440"/>
            <a:ext cx="11430000" cy="1188720"/>
          </a:xfrm>
          <a:prstGeom prst="rect">
            <a:avLst/>
          </a:prstGeom>
          <a:solidFill>
            <a:srgbClr val="16283A"/>
          </a:solidFill>
          <a:ln w="22860">
            <a:solidFill>
              <a:srgbClr val="F7B7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358444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7B731"/>
                </a:solidFill>
              </a:rPr>
              <a:t>Shipment Delay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95935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FFFFF"/>
                </a:solidFill>
              </a:rPr>
              <a:t>"Show me all shipments delayed by more than 5 days in the LATAM region"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32511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4D8"/>
                </a:solidFill>
              </a:rPr>
              <a:t>Triggers: NL→SQL → Shipment Agent → Risk Assessment → Recommendations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4892040"/>
            <a:ext cx="11430000" cy="1188720"/>
          </a:xfrm>
          <a:prstGeom prst="rect">
            <a:avLst/>
          </a:prstGeom>
          <a:solidFill>
            <a:srgbClr val="16283A"/>
          </a:solidFill>
          <a:ln w="22860">
            <a:solidFill>
              <a:srgbClr val="2DC6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495604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C65C"/>
                </a:solidFill>
              </a:rPr>
              <a:t>Inventory Health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33095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FFFFF"/>
                </a:solidFill>
              </a:rPr>
              <a:t>"Which warehouses are at critical stock levels and which suppliers serve them?"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69671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4D8"/>
                </a:solidFill>
              </a:rPr>
              <a:t>Triggers: NL→SQL → Inventory Agent → Supplier Agent → Cascade Anomaly Check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8346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90E0EF"/>
                </a:solidFill>
              </a:rPr>
              <a:t>AI-Powered Supply Chain Intelligence Assistant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290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B0C4D8"/>
                </a:solidFill>
              </a:rPr>
              <a:t>Questions &amp;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7548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0C4D8"/>
                </a:solidFill>
              </a:rPr>
              <a:t>Anuvarshini S S  |  FDE Capstone  | 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