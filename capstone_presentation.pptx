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DM Sans" charset="1" panose="00000000000000000000"/>
      <p:regular r:id="rId15"/>
    </p:embeddedFont>
    <p:embeddedFont>
      <p:font typeface="DM Sans Bold" charset="1" panose="00000000000000000000"/>
      <p:regular r:id="rId16"/>
    </p:embeddedFont>
    <p:embeddedFont>
      <p:font typeface="Helvetica World" charset="1" panose="020B05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89880" y="3346654"/>
            <a:ext cx="5532053" cy="7142741"/>
          </a:xfrm>
          <a:custGeom>
            <a:avLst/>
            <a:gdLst/>
            <a:ahLst/>
            <a:cxnLst/>
            <a:rect r="r" b="b" t="t" l="l"/>
            <a:pathLst>
              <a:path h="7142741" w="5532053">
                <a:moveTo>
                  <a:pt x="0" y="0"/>
                </a:moveTo>
                <a:lnTo>
                  <a:pt x="5532054" y="0"/>
                </a:lnTo>
                <a:lnTo>
                  <a:pt x="5532054" y="7142742"/>
                </a:lnTo>
                <a:lnTo>
                  <a:pt x="0" y="7142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49030" y="4574281"/>
            <a:ext cx="15101250" cy="747014"/>
            <a:chOff x="0" y="0"/>
            <a:chExt cx="3977284" cy="196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77284" cy="196745"/>
            </a:xfrm>
            <a:custGeom>
              <a:avLst/>
              <a:gdLst/>
              <a:ahLst/>
              <a:cxnLst/>
              <a:rect r="r" b="b" t="t" l="l"/>
              <a:pathLst>
                <a:path h="196745" w="3977284">
                  <a:moveTo>
                    <a:pt x="0" y="0"/>
                  </a:moveTo>
                  <a:lnTo>
                    <a:pt x="3977284" y="0"/>
                  </a:lnTo>
                  <a:lnTo>
                    <a:pt x="3977284" y="196745"/>
                  </a:lnTo>
                  <a:lnTo>
                    <a:pt x="0" y="196745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977284" cy="234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54287" y="2221210"/>
            <a:ext cx="11342437" cy="213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5"/>
              </a:lnSpc>
              <a:spcBef>
                <a:spcPct val="0"/>
              </a:spcBef>
            </a:pPr>
            <a:r>
              <a:rPr lang="en-US" sz="6132" spc="-4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AI-Powered Supply Chain Intelligence Assistant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9030" y="4616000"/>
            <a:ext cx="1510125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From fragmented data to instant, actionable decisions — in plain English.</a:t>
            </a:r>
          </a:p>
        </p:txBody>
      </p:sp>
      <p:grpSp>
        <p:nvGrpSpPr>
          <p:cNvPr name="Group 9" id="9"/>
          <p:cNvGrpSpPr/>
          <p:nvPr/>
        </p:nvGrpSpPr>
        <p:grpSpPr>
          <a:xfrm rot="-2700000">
            <a:off x="12589265" y="3323377"/>
            <a:ext cx="504343" cy="504343"/>
            <a:chOff x="0" y="0"/>
            <a:chExt cx="132831" cy="1328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831" cy="132831"/>
            </a:xfrm>
            <a:custGeom>
              <a:avLst/>
              <a:gdLst/>
              <a:ahLst/>
              <a:cxnLst/>
              <a:rect r="r" b="b" t="t" l="l"/>
              <a:pathLst>
                <a:path h="132831" w="132831">
                  <a:moveTo>
                    <a:pt x="0" y="0"/>
                  </a:moveTo>
                  <a:lnTo>
                    <a:pt x="132831" y="0"/>
                  </a:lnTo>
                  <a:lnTo>
                    <a:pt x="132831" y="132831"/>
                  </a:lnTo>
                  <a:lnTo>
                    <a:pt x="0" y="13283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2831" cy="170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6866660" y="5903774"/>
            <a:ext cx="317690" cy="317690"/>
            <a:chOff x="0" y="0"/>
            <a:chExt cx="83671" cy="83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54287" y="6963534"/>
            <a:ext cx="7914954" cy="52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Capst</a:t>
            </a:r>
            <a:r>
              <a:rPr lang="en-US" sz="31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one Project | FDE Program | May 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4287" y="7655368"/>
            <a:ext cx="14334006" cy="54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sz="325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Presente</a:t>
            </a:r>
            <a:r>
              <a:rPr lang="en-US" sz="325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r: Anuvarshini S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0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984996" y="8755627"/>
            <a:ext cx="1921529" cy="47625"/>
            <a:chOff x="0" y="0"/>
            <a:chExt cx="506082" cy="12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700000">
            <a:off x="2520755" y="2963734"/>
            <a:ext cx="317690" cy="317690"/>
            <a:chOff x="0" y="0"/>
            <a:chExt cx="83671" cy="836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06825" y="680097"/>
            <a:ext cx="15074350" cy="1964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  <a:spcBef>
                <a:spcPct val="0"/>
              </a:spcBef>
            </a:pPr>
            <a:r>
              <a:rPr lang="en-US" sz="5639" spc="-4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Supply chain teams are drowning in data — and starving for answers.</a:t>
            </a:r>
          </a:p>
        </p:txBody>
      </p:sp>
      <p:grpSp>
        <p:nvGrpSpPr>
          <p:cNvPr name="Group 11" id="11"/>
          <p:cNvGrpSpPr/>
          <p:nvPr/>
        </p:nvGrpSpPr>
        <p:grpSpPr>
          <a:xfrm rot="-2700000">
            <a:off x="15000996" y="2963734"/>
            <a:ext cx="317690" cy="317690"/>
            <a:chOff x="0" y="0"/>
            <a:chExt cx="83671" cy="83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2258" y="4045877"/>
            <a:ext cx="3754684" cy="3995374"/>
            <a:chOff x="0" y="0"/>
            <a:chExt cx="988888" cy="105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8888" cy="1052280"/>
            </a:xfrm>
            <a:custGeom>
              <a:avLst/>
              <a:gdLst/>
              <a:ahLst/>
              <a:cxnLst/>
              <a:rect r="r" b="b" t="t" l="l"/>
              <a:pathLst>
                <a:path h="1052280" w="988888">
                  <a:moveTo>
                    <a:pt x="35053" y="0"/>
                  </a:moveTo>
                  <a:lnTo>
                    <a:pt x="953835" y="0"/>
                  </a:lnTo>
                  <a:cubicBezTo>
                    <a:pt x="963132" y="0"/>
                    <a:pt x="972048" y="3693"/>
                    <a:pt x="978621" y="10267"/>
                  </a:cubicBezTo>
                  <a:cubicBezTo>
                    <a:pt x="985195" y="16840"/>
                    <a:pt x="988888" y="25756"/>
                    <a:pt x="988888" y="35053"/>
                  </a:cubicBezTo>
                  <a:lnTo>
                    <a:pt x="988888" y="1017227"/>
                  </a:lnTo>
                  <a:cubicBezTo>
                    <a:pt x="988888" y="1026523"/>
                    <a:pt x="985195" y="1035439"/>
                    <a:pt x="978621" y="1042013"/>
                  </a:cubicBezTo>
                  <a:cubicBezTo>
                    <a:pt x="972048" y="1048586"/>
                    <a:pt x="963132" y="1052280"/>
                    <a:pt x="953835" y="1052280"/>
                  </a:cubicBezTo>
                  <a:lnTo>
                    <a:pt x="35053" y="1052280"/>
                  </a:lnTo>
                  <a:cubicBezTo>
                    <a:pt x="25756" y="1052280"/>
                    <a:pt x="16840" y="1048586"/>
                    <a:pt x="10267" y="1042013"/>
                  </a:cubicBezTo>
                  <a:cubicBezTo>
                    <a:pt x="3693" y="1035439"/>
                    <a:pt x="0" y="1026523"/>
                    <a:pt x="0" y="1017227"/>
                  </a:cubicBezTo>
                  <a:lnTo>
                    <a:pt x="0" y="35053"/>
                  </a:lnTo>
                  <a:cubicBezTo>
                    <a:pt x="0" y="25756"/>
                    <a:pt x="3693" y="16840"/>
                    <a:pt x="10267" y="10267"/>
                  </a:cubicBezTo>
                  <a:cubicBezTo>
                    <a:pt x="16840" y="3693"/>
                    <a:pt x="25756" y="0"/>
                    <a:pt x="35053" y="0"/>
                  </a:cubicBez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88888" cy="1099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  <a:p>
              <a:pPr algn="l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700000">
            <a:off x="8760515" y="2963734"/>
            <a:ext cx="317690" cy="317690"/>
            <a:chOff x="0" y="0"/>
            <a:chExt cx="83671" cy="836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54652" y="4065755"/>
            <a:ext cx="3729415" cy="3975496"/>
            <a:chOff x="0" y="0"/>
            <a:chExt cx="982233" cy="10470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2233" cy="1047044"/>
            </a:xfrm>
            <a:custGeom>
              <a:avLst/>
              <a:gdLst/>
              <a:ahLst/>
              <a:cxnLst/>
              <a:rect r="r" b="b" t="t" l="l"/>
              <a:pathLst>
                <a:path h="1047044" w="982233">
                  <a:moveTo>
                    <a:pt x="35290" y="0"/>
                  </a:moveTo>
                  <a:lnTo>
                    <a:pt x="946942" y="0"/>
                  </a:lnTo>
                  <a:cubicBezTo>
                    <a:pt x="956302" y="0"/>
                    <a:pt x="965278" y="3718"/>
                    <a:pt x="971896" y="10336"/>
                  </a:cubicBezTo>
                  <a:cubicBezTo>
                    <a:pt x="978515" y="16955"/>
                    <a:pt x="982233" y="25931"/>
                    <a:pt x="982233" y="35290"/>
                  </a:cubicBezTo>
                  <a:lnTo>
                    <a:pt x="982233" y="1011754"/>
                  </a:lnTo>
                  <a:cubicBezTo>
                    <a:pt x="982233" y="1031244"/>
                    <a:pt x="966433" y="1047044"/>
                    <a:pt x="946942" y="1047044"/>
                  </a:cubicBezTo>
                  <a:lnTo>
                    <a:pt x="35290" y="1047044"/>
                  </a:lnTo>
                  <a:cubicBezTo>
                    <a:pt x="25931" y="1047044"/>
                    <a:pt x="16955" y="1043326"/>
                    <a:pt x="10336" y="1036708"/>
                  </a:cubicBezTo>
                  <a:cubicBezTo>
                    <a:pt x="3718" y="1030090"/>
                    <a:pt x="0" y="1021113"/>
                    <a:pt x="0" y="1011754"/>
                  </a:cubicBezTo>
                  <a:lnTo>
                    <a:pt x="0" y="35290"/>
                  </a:lnTo>
                  <a:cubicBezTo>
                    <a:pt x="0" y="25931"/>
                    <a:pt x="3718" y="16955"/>
                    <a:pt x="10336" y="10336"/>
                  </a:cubicBezTo>
                  <a:cubicBezTo>
                    <a:pt x="16955" y="3718"/>
                    <a:pt x="25931" y="0"/>
                    <a:pt x="35290" y="0"/>
                  </a:cubicBez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82233" cy="108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79617" y="4045877"/>
            <a:ext cx="3886924" cy="3975496"/>
            <a:chOff x="0" y="0"/>
            <a:chExt cx="1023717" cy="10470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3717" cy="1047044"/>
            </a:xfrm>
            <a:custGeom>
              <a:avLst/>
              <a:gdLst/>
              <a:ahLst/>
              <a:cxnLst/>
              <a:rect r="r" b="b" t="t" l="l"/>
              <a:pathLst>
                <a:path h="1047044" w="1023717">
                  <a:moveTo>
                    <a:pt x="33860" y="0"/>
                  </a:moveTo>
                  <a:lnTo>
                    <a:pt x="989856" y="0"/>
                  </a:lnTo>
                  <a:cubicBezTo>
                    <a:pt x="998837" y="0"/>
                    <a:pt x="1007449" y="3567"/>
                    <a:pt x="1013799" y="9917"/>
                  </a:cubicBezTo>
                  <a:cubicBezTo>
                    <a:pt x="1020149" y="16268"/>
                    <a:pt x="1023717" y="24880"/>
                    <a:pt x="1023717" y="33860"/>
                  </a:cubicBezTo>
                  <a:lnTo>
                    <a:pt x="1023717" y="1013184"/>
                  </a:lnTo>
                  <a:cubicBezTo>
                    <a:pt x="1023717" y="1022164"/>
                    <a:pt x="1020149" y="1030777"/>
                    <a:pt x="1013799" y="1037127"/>
                  </a:cubicBezTo>
                  <a:cubicBezTo>
                    <a:pt x="1007449" y="1043477"/>
                    <a:pt x="998837" y="1047044"/>
                    <a:pt x="989856" y="1047044"/>
                  </a:cubicBezTo>
                  <a:lnTo>
                    <a:pt x="33860" y="1047044"/>
                  </a:lnTo>
                  <a:cubicBezTo>
                    <a:pt x="24880" y="1047044"/>
                    <a:pt x="16268" y="1043477"/>
                    <a:pt x="9917" y="1037127"/>
                  </a:cubicBezTo>
                  <a:cubicBezTo>
                    <a:pt x="3567" y="1030777"/>
                    <a:pt x="0" y="1022164"/>
                    <a:pt x="0" y="1013184"/>
                  </a:cubicBezTo>
                  <a:lnTo>
                    <a:pt x="0" y="33860"/>
                  </a:lnTo>
                  <a:cubicBezTo>
                    <a:pt x="0" y="24880"/>
                    <a:pt x="3567" y="16268"/>
                    <a:pt x="9917" y="9917"/>
                  </a:cubicBezTo>
                  <a:cubicBezTo>
                    <a:pt x="16268" y="3567"/>
                    <a:pt x="24880" y="0"/>
                    <a:pt x="33860" y="0"/>
                  </a:cubicBez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23717" cy="108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67609" y="5269706"/>
            <a:ext cx="3510809" cy="229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Teams react t</a:t>
            </a: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disruptions. There is no proactive system that says "Supplier A's delay is about to cascade into a stockout at Warehouse B."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851" y="4305141"/>
            <a:ext cx="3217776" cy="83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Risk is invisible </a:t>
            </a:r>
            <a:r>
              <a:rPr lang="en-US" b="true" sz="239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until it's too late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38939" y="4322921"/>
            <a:ext cx="329915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Decisi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ons are made without confidence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38939" y="5269706"/>
            <a:ext cx="3711658" cy="244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  <a:spcBef>
                <a:spcPct val="0"/>
              </a:spcBef>
            </a:pPr>
            <a:r>
              <a:rPr lang="en-US" sz="20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When data finally arrives, it comes with</a:t>
            </a:r>
            <a:r>
              <a:rPr lang="en-US" sz="20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 context — no risk score, no priority, no recommended action. Managers are left guessing what to do next and who to escalate to.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04562" y="4322921"/>
            <a:ext cx="327661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</a:t>
            </a: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alysis takes too long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78082" y="5170825"/>
            <a:ext cx="3648091" cy="227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  <a:spcBef>
                <a:spcPct val="0"/>
              </a:spcBef>
            </a:pPr>
            <a:r>
              <a:rPr lang="en-US" sz="218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18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onnecting supplier delays, warehouse depletion, and stockout risk requires hours of manual work. By the time the answer arrives, the damage is done.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9210675"/>
            <a:ext cx="1921529" cy="47625"/>
            <a:chOff x="0" y="0"/>
            <a:chExt cx="506082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461154" y="3787587"/>
            <a:ext cx="6114130" cy="5146569"/>
          </a:xfrm>
          <a:custGeom>
            <a:avLst/>
            <a:gdLst/>
            <a:ahLst/>
            <a:cxnLst/>
            <a:rect r="r" b="b" t="t" l="l"/>
            <a:pathLst>
              <a:path h="5146569" w="6114130">
                <a:moveTo>
                  <a:pt x="0" y="0"/>
                </a:moveTo>
                <a:lnTo>
                  <a:pt x="6114130" y="0"/>
                </a:lnTo>
                <a:lnTo>
                  <a:pt x="6114130" y="5146569"/>
                </a:lnTo>
                <a:lnTo>
                  <a:pt x="0" y="5146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88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2503" y="3979063"/>
            <a:ext cx="4885497" cy="6307937"/>
          </a:xfrm>
          <a:custGeom>
            <a:avLst/>
            <a:gdLst/>
            <a:ahLst/>
            <a:cxnLst/>
            <a:rect r="r" b="b" t="t" l="l"/>
            <a:pathLst>
              <a:path h="6307937" w="4885497">
                <a:moveTo>
                  <a:pt x="0" y="0"/>
                </a:moveTo>
                <a:lnTo>
                  <a:pt x="4885497" y="0"/>
                </a:lnTo>
                <a:lnTo>
                  <a:pt x="4885497" y="6307937"/>
                </a:lnTo>
                <a:lnTo>
                  <a:pt x="0" y="630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700000">
            <a:off x="8760515" y="6426667"/>
            <a:ext cx="317690" cy="317690"/>
            <a:chOff x="0" y="0"/>
            <a:chExt cx="83671" cy="83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838200"/>
            <a:ext cx="10283869" cy="171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34"/>
              </a:lnSpc>
              <a:spcBef>
                <a:spcPct val="0"/>
              </a:spcBef>
            </a:pPr>
            <a:r>
              <a:rPr lang="en-US" sz="10024" spc="-77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Our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75689"/>
            <a:ext cx="7666019" cy="361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</a:p>
          <a:p>
            <a:pPr algn="l">
              <a:lnSpc>
                <a:spcPts val="4421"/>
              </a:lnSpc>
              <a:spcBef>
                <a:spcPct val="0"/>
              </a:spcBef>
            </a:pPr>
            <a:r>
              <a:rPr lang="en-US" sz="315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Type a question in plain English. The AI queries your databases, retrieves relevant documents, runs specialist risk agents, detects cross-domain anomalies, and delivers a prioritised recommendation — in one response.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0493" y="2523641"/>
            <a:ext cx="9924017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 questi</a:t>
            </a:r>
            <a:r>
              <a:rPr lang="en-US" b="true" sz="4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on. Every answer. Across your entire supply chain.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46014" y="9210675"/>
            <a:ext cx="1921529" cy="47625"/>
            <a:chOff x="0" y="0"/>
            <a:chExt cx="50608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8579683" y="2833199"/>
            <a:ext cx="233141" cy="233141"/>
            <a:chOff x="0" y="0"/>
            <a:chExt cx="61403" cy="61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3830288" y="2898836"/>
            <a:ext cx="47625" cy="47625"/>
            <a:chOff x="0" y="0"/>
            <a:chExt cx="12543" cy="12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2543"/>
            </a:xfrm>
            <a:custGeom>
              <a:avLst/>
              <a:gdLst/>
              <a:ahLst/>
              <a:cxnLst/>
              <a:rect r="r" b="b" t="t" l="l"/>
              <a:pathLst>
                <a:path h="12543" w="12543">
                  <a:moveTo>
                    <a:pt x="0" y="0"/>
                  </a:moveTo>
                  <a:lnTo>
                    <a:pt x="12543" y="0"/>
                  </a:lnTo>
                  <a:lnTo>
                    <a:pt x="1254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700000">
            <a:off x="8579683" y="5578422"/>
            <a:ext cx="233141" cy="233141"/>
            <a:chOff x="0" y="0"/>
            <a:chExt cx="61403" cy="614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8579683" y="6927016"/>
            <a:ext cx="233141" cy="233141"/>
            <a:chOff x="0" y="0"/>
            <a:chExt cx="61403" cy="614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784914"/>
            <a:ext cx="6696506" cy="5820156"/>
            <a:chOff x="0" y="0"/>
            <a:chExt cx="1037464" cy="9016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7464" cy="901694"/>
            </a:xfrm>
            <a:custGeom>
              <a:avLst/>
              <a:gdLst/>
              <a:ahLst/>
              <a:cxnLst/>
              <a:rect r="r" b="b" t="t" l="l"/>
              <a:pathLst>
                <a:path h="901694" w="1037464">
                  <a:moveTo>
                    <a:pt x="0" y="0"/>
                  </a:moveTo>
                  <a:lnTo>
                    <a:pt x="1037464" y="0"/>
                  </a:lnTo>
                  <a:lnTo>
                    <a:pt x="1037464" y="901694"/>
                  </a:lnTo>
                  <a:lnTo>
                    <a:pt x="0" y="901694"/>
                  </a:lnTo>
                  <a:close/>
                </a:path>
              </a:pathLst>
            </a:custGeom>
            <a:blipFill>
              <a:blip r:embed="rId2"/>
              <a:stretch>
                <a:fillRect l="-27256" t="0" r="-27256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4788" y="1048452"/>
            <a:ext cx="9851990" cy="115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We Deliver?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35081" y="2736743"/>
            <a:ext cx="7829625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aster decisions — Cross-domain risk analysis that took 4–8 hours of manual work is delivered in under 10 seconds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035081" y="3913252"/>
            <a:ext cx="7829625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oactive risk detection — Identifies cascade failures across supplier, shipment, and inventory domains before they become operational crises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035081" y="5482512"/>
            <a:ext cx="8224219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SQ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expertise needed — Business users and executives query live supply chain data in plain English with no analyst dependency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035081" y="6831106"/>
            <a:ext cx="8495991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Acti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onable recommendations — Every response comes with 3 prioritised, evidence-backed next steps so teams know exactly what to do, not just what went wrong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25" id="25"/>
          <p:cNvGrpSpPr/>
          <p:nvPr/>
        </p:nvGrpSpPr>
        <p:grpSpPr>
          <a:xfrm rot="-2700000">
            <a:off x="8579683" y="4009162"/>
            <a:ext cx="233141" cy="233141"/>
            <a:chOff x="0" y="0"/>
            <a:chExt cx="61403" cy="614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0" y="6550118"/>
            <a:ext cx="6742017" cy="3736882"/>
          </a:xfrm>
          <a:custGeom>
            <a:avLst/>
            <a:gdLst/>
            <a:ahLst/>
            <a:cxnLst/>
            <a:rect r="r" b="b" t="t" l="l"/>
            <a:pathLst>
              <a:path h="3736882" w="6742017">
                <a:moveTo>
                  <a:pt x="6742017" y="0"/>
                </a:moveTo>
                <a:lnTo>
                  <a:pt x="0" y="0"/>
                </a:lnTo>
                <a:lnTo>
                  <a:pt x="0" y="3736882"/>
                </a:lnTo>
                <a:lnTo>
                  <a:pt x="6742017" y="3736882"/>
                </a:lnTo>
                <a:lnTo>
                  <a:pt x="67420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7074" y="1272468"/>
            <a:ext cx="15253852" cy="1061870"/>
            <a:chOff x="0" y="0"/>
            <a:chExt cx="4017475" cy="279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17475" cy="279669"/>
            </a:xfrm>
            <a:custGeom>
              <a:avLst/>
              <a:gdLst/>
              <a:ahLst/>
              <a:cxnLst/>
              <a:rect r="r" b="b" t="t" l="l"/>
              <a:pathLst>
                <a:path h="279669" w="4017475">
                  <a:moveTo>
                    <a:pt x="0" y="0"/>
                  </a:moveTo>
                  <a:lnTo>
                    <a:pt x="4017475" y="0"/>
                  </a:lnTo>
                  <a:lnTo>
                    <a:pt x="4017475" y="279669"/>
                  </a:lnTo>
                  <a:lnTo>
                    <a:pt x="0" y="279669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17475" cy="3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517074" y="1272468"/>
          <a:ext cx="15253852" cy="8829675"/>
        </p:xfrm>
        <a:graphic>
          <a:graphicData uri="http://schemas.openxmlformats.org/drawingml/2006/table">
            <a:tbl>
              <a:tblPr/>
              <a:tblGrid>
                <a:gridCol w="4562921"/>
                <a:gridCol w="5345465"/>
                <a:gridCol w="5345465"/>
              </a:tblGrid>
              <a:tr h="10140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When It's Invoked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What It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93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NL-SQL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Every supply chain query — always runs first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Converts the user's question into SQL, runs it against the SQLite database, and extracts entity names (suppliers, warehouses, products) for use by downstream agents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54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Supplier Risk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When the classifier detects the query involves supplier performance, defect rates, or vendor risk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Analyses supplier profiles — on-time delivery rates, defect rates, reliability scores, and risk tiers. Identifies top and low performers and flags at-risk suppliers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54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Shipment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When the classifier detects the query involves delivery delays, carriers, routes, or regions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Analyses shipment events — identifies delayed or cancelled shipments, worst-performing carriers and routes, and regional disruption patterns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54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Inventory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When the classifier detects the query involves stock levels, warehouses, or stockout risk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Analyses warehouse stock levels, days of supply, and fulfilment rates. Flags products and warehouses at critical or stockout 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6144700" y="101598"/>
            <a:ext cx="6705699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Agent vise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0" y="6550118"/>
            <a:ext cx="6742017" cy="3736882"/>
          </a:xfrm>
          <a:custGeom>
            <a:avLst/>
            <a:gdLst/>
            <a:ahLst/>
            <a:cxnLst/>
            <a:rect r="r" b="b" t="t" l="l"/>
            <a:pathLst>
              <a:path h="3736882" w="6742017">
                <a:moveTo>
                  <a:pt x="6742017" y="0"/>
                </a:moveTo>
                <a:lnTo>
                  <a:pt x="0" y="0"/>
                </a:lnTo>
                <a:lnTo>
                  <a:pt x="0" y="3736882"/>
                </a:lnTo>
                <a:lnTo>
                  <a:pt x="6742017" y="3736882"/>
                </a:lnTo>
                <a:lnTo>
                  <a:pt x="67420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5874" y="1428750"/>
            <a:ext cx="16413426" cy="2018275"/>
            <a:chOff x="0" y="0"/>
            <a:chExt cx="4322878" cy="5315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2878" cy="531562"/>
            </a:xfrm>
            <a:custGeom>
              <a:avLst/>
              <a:gdLst/>
              <a:ahLst/>
              <a:cxnLst/>
              <a:rect r="r" b="b" t="t" l="l"/>
              <a:pathLst>
                <a:path h="531562" w="4322878">
                  <a:moveTo>
                    <a:pt x="0" y="0"/>
                  </a:moveTo>
                  <a:lnTo>
                    <a:pt x="4322878" y="0"/>
                  </a:lnTo>
                  <a:lnTo>
                    <a:pt x="4322878" y="531562"/>
                  </a:lnTo>
                  <a:lnTo>
                    <a:pt x="0" y="531562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22878" cy="569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45874" y="1428750"/>
          <a:ext cx="16413426" cy="8318951"/>
        </p:xfrm>
        <a:graphic>
          <a:graphicData uri="http://schemas.openxmlformats.org/drawingml/2006/table">
            <a:tbl>
              <a:tblPr/>
              <a:tblGrid>
                <a:gridCol w="4630004"/>
                <a:gridCol w="3757944"/>
                <a:gridCol w="8025478"/>
              </a:tblGrid>
              <a:tr h="20482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When It's Invoked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What It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Summary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After all specialist agents have finished — always runs on the full pipeline path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Reads all agent findings and writes a single 2–3 sentence executive summary that directly answers the user's original question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Recommendation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Final step — runs on every path (with or without specialist agents)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Generates exactly 3 prioritised, evidence-backed action recommendations. Each recommendation is scored by an LLM judge for actionability, evidence, and specificity before being shown to the user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79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Base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When the query is off-topic — not related to supply chain at 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Answers the question directly using general knowledge, bypassing the entire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6144700" y="101598"/>
            <a:ext cx="6705699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Agent vise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07783" y="9210675"/>
            <a:ext cx="1921529" cy="47625"/>
            <a:chOff x="0" y="0"/>
            <a:chExt cx="50608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0" y="2860226"/>
            <a:ext cx="5752036" cy="7426774"/>
          </a:xfrm>
          <a:custGeom>
            <a:avLst/>
            <a:gdLst/>
            <a:ahLst/>
            <a:cxnLst/>
            <a:rect r="r" b="b" t="t" l="l"/>
            <a:pathLst>
              <a:path h="7426774" w="5752036">
                <a:moveTo>
                  <a:pt x="5752036" y="0"/>
                </a:moveTo>
                <a:lnTo>
                  <a:pt x="0" y="0"/>
                </a:lnTo>
                <a:lnTo>
                  <a:pt x="0" y="7426774"/>
                </a:lnTo>
                <a:lnTo>
                  <a:pt x="5752036" y="7426774"/>
                </a:lnTo>
                <a:lnTo>
                  <a:pt x="57520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36910" y="4045557"/>
            <a:ext cx="7330877" cy="1533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Architecture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33406" y="9210675"/>
            <a:ext cx="1921529" cy="47625"/>
            <a:chOff x="0" y="0"/>
            <a:chExt cx="50608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0" y="2860226"/>
            <a:ext cx="5752036" cy="7426774"/>
          </a:xfrm>
          <a:custGeom>
            <a:avLst/>
            <a:gdLst/>
            <a:ahLst/>
            <a:cxnLst/>
            <a:rect r="r" b="b" t="t" l="l"/>
            <a:pathLst>
              <a:path h="7426774" w="5752036">
                <a:moveTo>
                  <a:pt x="5752036" y="0"/>
                </a:moveTo>
                <a:lnTo>
                  <a:pt x="0" y="0"/>
                </a:lnTo>
                <a:lnTo>
                  <a:pt x="0" y="7426774"/>
                </a:lnTo>
                <a:lnTo>
                  <a:pt x="5752036" y="7426774"/>
                </a:lnTo>
                <a:lnTo>
                  <a:pt x="57520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25546" y="4291007"/>
            <a:ext cx="3259733" cy="1533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Demo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0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83235" y="8542435"/>
            <a:ext cx="1921529" cy="47625"/>
            <a:chOff x="0" y="0"/>
            <a:chExt cx="506082" cy="12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700000">
            <a:off x="2485974" y="4852383"/>
            <a:ext cx="317690" cy="317690"/>
            <a:chOff x="0" y="0"/>
            <a:chExt cx="83671" cy="83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398149" y="4001900"/>
            <a:ext cx="9463810" cy="205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43"/>
              </a:lnSpc>
              <a:spcBef>
                <a:spcPct val="0"/>
              </a:spcBef>
            </a:pPr>
            <a:r>
              <a:rPr lang="en-US" b="true" sz="12030" spc="-92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grpSp>
        <p:nvGrpSpPr>
          <p:cNvPr name="Group 14" id="14"/>
          <p:cNvGrpSpPr/>
          <p:nvPr/>
        </p:nvGrpSpPr>
        <p:grpSpPr>
          <a:xfrm rot="-2700000">
            <a:off x="15484336" y="4852383"/>
            <a:ext cx="317690" cy="317690"/>
            <a:chOff x="0" y="0"/>
            <a:chExt cx="83671" cy="83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DAHL5sFD2qQ</dc:identifier>
  <dcterms:modified xsi:type="dcterms:W3CDTF">2011-08-01T06:04:30Z</dcterms:modified>
  <cp:revision>1</cp:revision>
  <dc:title>Orange and White Modern Company Profile Presentation</dc:title>
</cp:coreProperties>
</file>